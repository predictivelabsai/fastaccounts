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FastAccounts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User Guide — Client Books and Payroll for Accounting Bureaus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Invoices, banking, ledger, VAT and Estonian payroll in one bureau workspace.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Worked example: Põhjatäht Teenused OÜ, Northstar Studio Ltd and Demo OÜ (sample payroll)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v0.4.0 · 9 October 2026 · Local demonstration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Screenshots come from a local instance seeded with synthetic demo books. Names, personal codes, IBANs and e-mail addresses are test data, not real people or companies. The FastHR import uses a mocked FastHR API.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3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22"/>
                <a:gridCol w="1789736"/>
                <a:gridCol w="6487795"/>
              </a:tblGrid>
              <a:tr h="63746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Pages / slides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you will do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01 · Get started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3–11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Sign in with Google or email, create an account, reset a password, switch client books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02 · Sales, purchases and automation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12–18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Invoices, bills, contacts, recurring invoices and reminders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03 · Banking, accounting and tax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19–22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Reconcile the bank, read reports, prepare Estonian KMD workpapers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04 · Payroll for accounting bureaus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23–32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Part-time, hourly and board pay, social tax minimum, pay runs, payslips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05 · Integrations and HR import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33–40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Connect FastHR or import a CSV, and review employees before payroll changes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7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06 · Reference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41–43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2026 Estonian rates, exemptions, languages and limits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Get started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One workspace for every client: switch books from the sidebar, keep each client's ledger separate, and work in English or Estonian.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The public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fastaccounts.org</a:t>
            </a:r>
            <a:r>
              <a:rPr sz="1400">
                <a:solidFill>
                  <a:srgbClr val="14062B"/>
                </a:solidFill>
              </a:rPr>
              <a:t> introduces the product for UK and Estonian books.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Get started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Sign in</a:t>
            </a:r>
            <a:r>
              <a:rPr sz="1400">
                <a:solidFill>
                  <a:srgbClr val="14062B"/>
                </a:solidFill>
              </a:rPr>
              <a:t> lead to the workspace.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Integrations</a:t>
            </a:r>
            <a:r>
              <a:rPr sz="1400">
                <a:solidFill>
                  <a:srgbClr val="14062B"/>
                </a:solidFill>
              </a:rPr>
              <a:t> lists every connector with its real status.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Pricing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Why FastAccounts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For accounting bureaus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Roadmap</a:t>
            </a:r>
            <a:r>
              <a:rPr sz="1400">
                <a:solidFill>
                  <a:srgbClr val="14062B"/>
                </a:solidFill>
              </a:rPr>
              <a:t> explain the offer.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Switch the language with the language button (GB / EE) in the top bar; the choice is remembered.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The version link in the footer opens </a:t>
            </a:r>
            <a:r>
              <a:rPr sz="1400">
                <a:solidFill>
                  <a:srgbClr val="5B21B6"/>
                </a:solidFill>
                <a:latin typeface="Consolas"/>
              </a:rPr>
              <a:t>/healthz</a:t>
            </a:r>
            <a:r>
              <a:rPr sz="1400">
                <a:solidFill>
                  <a:srgbClr val="14062B"/>
                </a:solidFill>
              </a:rPr>
              <a:t>, which shows the running release and database status.</a:t>
            </a:r>
          </a:p>
        </p:txBody>
      </p:sp>
      <p:pic>
        <p:nvPicPr>
          <p:cNvPr id="5" name="Picture 4" descr="01-public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Open </a:t>
            </a:r>
            <a:r>
              <a:rPr b="1" sz="1400">
                <a:solidFill>
                  <a:srgbClr val="5B21B6"/>
                </a:solidFill>
              </a:rPr>
              <a:t>Sign in</a:t>
            </a:r>
            <a:r>
              <a:rPr sz="1400">
                <a:solidFill>
                  <a:srgbClr val="14062B"/>
                </a:solidFill>
              </a:rPr>
              <a:t> and choose </a:t>
            </a:r>
            <a:r>
              <a:rPr b="1" sz="1400">
                <a:solidFill>
                  <a:srgbClr val="5B21B6"/>
                </a:solidFill>
              </a:rPr>
              <a:t>Continue with Google</a:t>
            </a:r>
            <a:r>
              <a:rPr sz="1400">
                <a:solidFill>
                  <a:srgbClr val="14062B"/>
                </a:solidFill>
              </a:rPr>
              <a:t>, or enter your </a:t>
            </a:r>
            <a:r>
              <a:rPr b="1" sz="1400">
                <a:solidFill>
                  <a:srgbClr val="5B21B6"/>
                </a:solidFill>
              </a:rPr>
              <a:t>Email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Password</a:t>
            </a:r>
            <a:r>
              <a:rPr sz="1400">
                <a:solidFill>
                  <a:srgbClr val="14062B"/>
                </a:solidFill>
              </a:rPr>
              <a:t> and choose </a:t>
            </a:r>
            <a:r>
              <a:rPr b="1" sz="1400">
                <a:solidFill>
                  <a:srgbClr val="5B21B6"/>
                </a:solidFill>
              </a:rPr>
              <a:t>Sign in with email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Use the address your bureau invited or approved; both methods open the same account, so a Google user can also set a password.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The workspace opens on the </a:t>
            </a:r>
            <a:r>
              <a:rPr b="1" sz="1400">
                <a:solidFill>
                  <a:srgbClr val="5B21B6"/>
                </a:solidFill>
              </a:rPr>
              <a:t>Overview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The local demonstration shown here has no Google credentials configured, so the Google button reports that; production offers both options.</a:t>
            </a:r>
          </a:p>
        </p:txBody>
      </p:sp>
      <p:pic>
        <p:nvPicPr>
          <p:cNvPr id="5" name="Picture 4" descr="02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Create an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On </a:t>
            </a:r>
            <a:r>
              <a:rPr b="1" sz="1400">
                <a:solidFill>
                  <a:srgbClr val="5B21B6"/>
                </a:solidFill>
              </a:rPr>
              <a:t>Sign in</a:t>
            </a:r>
            <a:r>
              <a:rPr sz="1400">
                <a:solidFill>
                  <a:srgbClr val="14062B"/>
                </a:solidFill>
              </a:rPr>
              <a:t>, open the </a:t>
            </a:r>
            <a:r>
              <a:rPr b="1" sz="1400">
                <a:solidFill>
                  <a:srgbClr val="5B21B6"/>
                </a:solidFill>
              </a:rPr>
              <a:t>Create account</a:t>
            </a:r>
            <a:r>
              <a:rPr sz="1400">
                <a:solidFill>
                  <a:srgbClr val="14062B"/>
                </a:solidFill>
              </a:rPr>
              <a:t> tab.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your </a:t>
            </a:r>
            <a:r>
              <a:rPr b="1" sz="1400">
                <a:solidFill>
                  <a:srgbClr val="5B21B6"/>
                </a:solidFill>
              </a:rPr>
              <a:t>Name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Email</a:t>
            </a:r>
            <a:r>
              <a:rPr sz="1400">
                <a:solidFill>
                  <a:srgbClr val="14062B"/>
                </a:solidFill>
              </a:rPr>
              <a:t> and a </a:t>
            </a:r>
            <a:r>
              <a:rPr b="1" sz="1400">
                <a:solidFill>
                  <a:srgbClr val="5B21B6"/>
                </a:solidFill>
              </a:rPr>
              <a:t>Password (at least 10 characters)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</a:t>
            </a:r>
            <a:r>
              <a:rPr b="1" sz="1400">
                <a:solidFill>
                  <a:srgbClr val="5B21B6"/>
                </a:solidFill>
              </a:rPr>
              <a:t>Create account</a:t>
            </a:r>
            <a:r>
              <a:rPr sz="1400">
                <a:solidFill>
                  <a:srgbClr val="14062B"/>
                </a:solidFill>
              </a:rPr>
              <a:t> and open the confirmation link we email you.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the same password to </a:t>
            </a:r>
            <a:r>
              <a:rPr b="1" sz="1400">
                <a:solidFill>
                  <a:srgbClr val="5B21B6"/>
                </a:solidFill>
              </a:rPr>
              <a:t>Confirm email</a:t>
            </a:r>
            <a:r>
              <a:rPr sz="1400">
                <a:solidFill>
                  <a:srgbClr val="14062B"/>
                </a:solidFill>
              </a:rPr>
              <a:t>; the workspace opens.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Access still requires an invitation or an approved address. The message after sign-up is the same whether or not the address can register.</a:t>
            </a:r>
          </a:p>
        </p:txBody>
      </p:sp>
      <p:pic>
        <p:nvPicPr>
          <p:cNvPr id="5" name="Picture 4" descr="29-create-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Forgot your password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</a:t>
            </a:r>
            <a:r>
              <a:rPr b="1" sz="1400">
                <a:solidFill>
                  <a:srgbClr val="5B21B6"/>
                </a:solidFill>
              </a:rPr>
              <a:t>Forgot password?</a:t>
            </a:r>
            <a:r>
              <a:rPr sz="1400">
                <a:solidFill>
                  <a:srgbClr val="14062B"/>
                </a:solidFill>
              </a:rPr>
              <a:t> under the password field.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your </a:t>
            </a:r>
            <a:r>
              <a:rPr b="1" sz="1400">
                <a:solidFill>
                  <a:srgbClr val="5B21B6"/>
                </a:solidFill>
              </a:rPr>
              <a:t>Email</a:t>
            </a:r>
            <a:r>
              <a:rPr sz="1400">
                <a:solidFill>
                  <a:srgbClr val="14062B"/>
                </a:solidFill>
              </a:rPr>
              <a:t> and choose </a:t>
            </a:r>
            <a:r>
              <a:rPr b="1" sz="1400">
                <a:solidFill>
                  <a:srgbClr val="5B21B6"/>
                </a:solidFill>
              </a:rPr>
              <a:t>Send reset link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Open the link in the email within one hour; it works once.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This is also how a Google user adds a password. Repeated attempts are paused for a while to protect accounts.</a:t>
            </a:r>
          </a:p>
        </p:txBody>
      </p:sp>
      <p:pic>
        <p:nvPicPr>
          <p:cNvPr id="5" name="Picture 4" descr="30-forgo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Choose a new password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a </a:t>
            </a:r>
            <a:r>
              <a:rPr b="1" sz="1400">
                <a:solidFill>
                  <a:srgbClr val="5B21B6"/>
                </a:solidFill>
              </a:rPr>
              <a:t>New password (at least 10 characters)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</a:t>
            </a:r>
            <a:r>
              <a:rPr b="1" sz="1400">
                <a:solidFill>
                  <a:srgbClr val="5B21B6"/>
                </a:solidFill>
              </a:rPr>
              <a:t>Set new password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Sign in again with the new password.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Changing the password signs out every other browser where the account was signed in.</a:t>
            </a:r>
          </a:p>
        </p:txBody>
      </p:sp>
      <p:pic>
        <p:nvPicPr>
          <p:cNvPr id="5" name="Picture 4" descr="31-rese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Bureau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Overview</a:t>
            </a:r>
            <a:r>
              <a:rPr sz="1400">
                <a:solidFill>
                  <a:srgbClr val="14062B"/>
                </a:solidFill>
              </a:rPr>
              <a:t> summarises the selected client's books: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Receivables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Payables</a:t>
            </a:r>
            <a:r>
              <a:rPr sz="1400">
                <a:solidFill>
                  <a:srgbClr val="14062B"/>
                </a:solidFill>
              </a:rPr>
              <a:t> — open customer invoices and approved bills.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Bank review</a:t>
            </a:r>
            <a:r>
              <a:rPr sz="1400">
                <a:solidFill>
                  <a:srgbClr val="14062B"/>
                </a:solidFill>
              </a:rPr>
              <a:t> — bank lines still waiting for a match.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Payroll this month</a:t>
            </a:r>
            <a:r>
              <a:rPr sz="1400">
                <a:solidFill>
                  <a:srgbClr val="14062B"/>
                </a:solidFill>
              </a:rPr>
              <a:t> — employer cost of draft and approved pay runs.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Client books</a:t>
            </a:r>
            <a:r>
              <a:rPr sz="1400">
                <a:solidFill>
                  <a:srgbClr val="14062B"/>
                </a:solidFill>
              </a:rPr>
              <a:t> lists every organisation you can access, with receivables per client. The chart compares invoiced revenue with net bank movement for the last six months. </a:t>
            </a:r>
            <a:r>
              <a:rPr b="1" sz="1400">
                <a:solidFill>
                  <a:srgbClr val="5B21B6"/>
                </a:solidFill>
              </a:rPr>
              <a:t>New invoice</a:t>
            </a:r>
            <a:r>
              <a:rPr sz="1400">
                <a:solidFill>
                  <a:srgbClr val="14062B"/>
                </a:solidFill>
              </a:rPr>
              <a:t> starts a sales invoice straight away.</a:t>
            </a:r>
          </a:p>
        </p:txBody>
      </p:sp>
      <p:pic>
        <p:nvPicPr>
          <p:cNvPr id="5" name="Picture 4" descr="03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Switch between clients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Each client is a separate organisation with its own chart of accounts, documents, bank accounts, payroll and integrations.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Click the organisation card at the top of the sidebar.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Pick a client; the country badge (EE / UK) shows its rule set.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Create organisation</a:t>
            </a:r>
            <a:r>
              <a:rPr sz="1400">
                <a:solidFill>
                  <a:srgbClr val="14062B"/>
                </a:solidFill>
              </a:rPr>
              <a:t> adds a new client's books.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Payroll is enabled only for Estonian organisations with EUR books; for other clients the </a:t>
            </a:r>
            <a:r>
              <a:rPr b="1" sz="1400">
                <a:solidFill>
                  <a:srgbClr val="5B21B6"/>
                </a:solidFill>
              </a:rPr>
              <a:t>Payroll</a:t>
            </a:r>
            <a:r>
              <a:rPr sz="1400">
                <a:solidFill>
                  <a:srgbClr val="14062B"/>
                </a:solidFill>
              </a:rPr>
              <a:t> menu item is greyed out with an explanation.</a:t>
            </a:r>
          </a:p>
        </p:txBody>
      </p:sp>
      <p:pic>
        <p:nvPicPr>
          <p:cNvPr id="5" name="Picture 4" descr="04-organisation-swi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Workspace language and 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English / Eesti</a:t>
            </a:r>
            <a:r>
              <a:rPr sz="1400">
                <a:solidFill>
                  <a:srgbClr val="14062B"/>
                </a:solidFill>
              </a:rPr>
              <a:t> in the top bar switches every label, message and error. Your choice is kept for the next visit. Estonian payslips are always in Estonian.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The version chip under the logo (</a:t>
            </a:r>
            <a:r>
              <a:rPr sz="1400">
                <a:solidFill>
                  <a:srgbClr val="5B21B6"/>
                </a:solidFill>
                <a:latin typeface="Consolas"/>
              </a:rPr>
              <a:t>v0.4.0 · 2026-10-09</a:t>
            </a:r>
            <a:r>
              <a:rPr sz="1400">
                <a:solidFill>
                  <a:srgbClr val="14062B"/>
                </a:solidFill>
              </a:rPr>
              <a:t>) shows the release you are using; click it to open the health check.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Public site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Sign out</a:t>
            </a:r>
            <a:r>
              <a:rPr sz="1400">
                <a:solidFill>
                  <a:srgbClr val="14062B"/>
                </a:solidFill>
              </a:rPr>
              <a:t> are at the bottom of the sidebar.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On narrow screens the sidebar folds into the </a:t>
            </a:r>
            <a:r>
              <a:rPr b="1" sz="1400">
                <a:solidFill>
                  <a:srgbClr val="5B21B6"/>
                </a:solidFill>
              </a:rPr>
              <a:t>☰</a:t>
            </a:r>
            <a:r>
              <a:rPr sz="1400">
                <a:solidFill>
                  <a:srgbClr val="14062B"/>
                </a:solidFill>
              </a:rPr>
              <a:t> menu.</a:t>
            </a:r>
          </a:p>
        </p:txBody>
      </p:sp>
      <p:pic>
        <p:nvPicPr>
          <p:cNvPr id="5" name="Picture 4" descr="03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Sales, purchases and automation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Issue invoices, review supplier bills and let recurring invoices and the reminder ladder do the routine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Sales invoices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Invoices</a:t>
            </a:r>
            <a:r>
              <a:rPr sz="1400">
                <a:solidFill>
                  <a:srgbClr val="14062B"/>
                </a:solidFill>
              </a:rPr>
              <a:t> shows every sales invoice with its status: </a:t>
            </a:r>
            <a:r>
              <a:rPr b="1" sz="1400">
                <a:solidFill>
                  <a:srgbClr val="5B21B6"/>
                </a:solidFill>
              </a:rPr>
              <a:t>Draft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Issued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Part paid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Paid</a:t>
            </a:r>
            <a:r>
              <a:rPr sz="1400">
                <a:solidFill>
                  <a:srgbClr val="14062B"/>
                </a:solidFill>
              </a:rPr>
              <a:t> or </a:t>
            </a:r>
            <a:r>
              <a:rPr b="1" sz="1400">
                <a:solidFill>
                  <a:srgbClr val="5B21B6"/>
                </a:solidFill>
              </a:rPr>
              <a:t>Overdue</a:t>
            </a:r>
            <a:r>
              <a:rPr sz="1400">
                <a:solidFill>
                  <a:srgbClr val="14062B"/>
                </a:solidFill>
              </a:rPr>
              <a:t>. Filter with the tabs above the list.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PDF</a:t>
            </a:r>
            <a:r>
              <a:rPr sz="1400">
                <a:solidFill>
                  <a:srgbClr val="14062B"/>
                </a:solidFill>
              </a:rPr>
              <a:t> downloads the invoice; </a:t>
            </a:r>
            <a:r>
              <a:rPr b="1" sz="1400">
                <a:solidFill>
                  <a:srgbClr val="5B21B6"/>
                </a:solidFill>
              </a:rPr>
              <a:t>XML</a:t>
            </a:r>
            <a:r>
              <a:rPr sz="1400">
                <a:solidFill>
                  <a:srgbClr val="14062B"/>
                </a:solidFill>
              </a:rPr>
              <a:t> downloads it as structured XML.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Open a draft to edit, issue or delete it. Issued invoices are immutable and are posted to the ledger.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New contact</a:t>
            </a:r>
            <a:r>
              <a:rPr sz="1400">
                <a:solidFill>
                  <a:srgbClr val="14062B"/>
                </a:solidFill>
              </a:rPr>
              <a:t> adds a customer without leaving the page.</a:t>
            </a:r>
          </a:p>
        </p:txBody>
      </p:sp>
      <p:pic>
        <p:nvPicPr>
          <p:cNvPr id="5" name="Picture 4" descr="05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Create an invoice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Click </a:t>
            </a:r>
            <a:r>
              <a:rPr b="1" sz="1400">
                <a:solidFill>
                  <a:srgbClr val="5B21B6"/>
                </a:solidFill>
              </a:rPr>
              <a:t>New invoice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the </a:t>
            </a:r>
            <a:r>
              <a:rPr b="1" sz="1400">
                <a:solidFill>
                  <a:srgbClr val="5B21B6"/>
                </a:solidFill>
              </a:rPr>
              <a:t>Customer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Issue date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Due date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the </a:t>
            </a:r>
            <a:r>
              <a:rPr b="1" sz="1400">
                <a:solidFill>
                  <a:srgbClr val="5B21B6"/>
                </a:solidFill>
              </a:rPr>
              <a:t>Description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Quantity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Unit price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Pick the </a:t>
            </a:r>
            <a:r>
              <a:rPr b="1" sz="1400">
                <a:solidFill>
                  <a:srgbClr val="5B21B6"/>
                </a:solidFill>
              </a:rPr>
              <a:t>Income account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Tax code</a:t>
            </a:r>
            <a:r>
              <a:rPr sz="1400">
                <a:solidFill>
                  <a:srgbClr val="14062B"/>
                </a:solidFill>
              </a:rPr>
              <a:t> (for example EE24 – 24%).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Create draft</a:t>
            </a:r>
            <a:r>
              <a:rPr sz="1400">
                <a:solidFill>
                  <a:srgbClr val="14062B"/>
                </a:solidFill>
              </a:rPr>
              <a:t>, review it, then </a:t>
            </a:r>
            <a:r>
              <a:rPr b="1" sz="1400">
                <a:solidFill>
                  <a:srgbClr val="5B21B6"/>
                </a:solidFill>
              </a:rPr>
              <a:t>Issue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VAT is calculated per line with exact decimals and posted to the client's VAT accounts when the invoice is issued.</a:t>
            </a:r>
          </a:p>
        </p:txBody>
      </p:sp>
      <p:pic>
        <p:nvPicPr>
          <p:cNvPr id="5" name="Picture 4" descr="06-new-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Supplier bills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Bills</a:t>
            </a:r>
            <a:r>
              <a:rPr sz="1400">
                <a:solidFill>
                  <a:srgbClr val="14062B"/>
                </a:solidFill>
              </a:rPr>
              <a:t> holds supplier documents before they reach the ledger.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Statuses run </a:t>
            </a:r>
            <a:r>
              <a:rPr b="1" sz="1400">
                <a:solidFill>
                  <a:srgbClr val="5B21B6"/>
                </a:solidFill>
              </a:rPr>
              <a:t>In review → Approved → Part paid → Paid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Approve</a:t>
            </a:r>
            <a:r>
              <a:rPr sz="1400">
                <a:solidFill>
                  <a:srgbClr val="14062B"/>
                </a:solidFill>
              </a:rPr>
              <a:t> posts the bill; nothing is posted while it is in review.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New bill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New supplier</a:t>
            </a:r>
            <a:r>
              <a:rPr sz="1400">
                <a:solidFill>
                  <a:srgbClr val="14062B"/>
                </a:solidFill>
              </a:rPr>
              <a:t> add documents and counterparties.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Use the review step for anything an accountant must check first, such as reverse-charge or non-deductible VAT.</a:t>
            </a:r>
          </a:p>
        </p:txBody>
      </p:sp>
      <p:pic>
        <p:nvPicPr>
          <p:cNvPr id="5" name="Picture 4" descr="07-b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Contacts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Contacts</a:t>
            </a:r>
            <a:r>
              <a:rPr sz="1400">
                <a:solidFill>
                  <a:srgbClr val="14062B"/>
                </a:solidFill>
              </a:rPr>
              <a:t> keeps customers and suppliers per client, with type, e-mail, country and VAT number. Filter by </a:t>
            </a:r>
            <a:r>
              <a:rPr b="1" sz="1400">
                <a:solidFill>
                  <a:srgbClr val="5B21B6"/>
                </a:solidFill>
              </a:rPr>
              <a:t>customer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supplier</a:t>
            </a:r>
            <a:r>
              <a:rPr sz="1400">
                <a:solidFill>
                  <a:srgbClr val="14062B"/>
                </a:solidFill>
              </a:rPr>
              <a:t> or </a:t>
            </a:r>
            <a:r>
              <a:rPr b="1" sz="1400">
                <a:solidFill>
                  <a:srgbClr val="5B21B6"/>
                </a:solidFill>
              </a:rPr>
              <a:t>both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Contacts are reused by invoices, bills, bank matching and recurring schedules, so keep e-mail addresses current: payment reminders go there.</a:t>
            </a:r>
          </a:p>
        </p:txBody>
      </p:sp>
      <p:pic>
        <p:nvPicPr>
          <p:cNvPr id="5" name="Picture 4" descr="08-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Recurring invoices and reminders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Recurring &amp; reminders</a:t>
            </a:r>
            <a:r>
              <a:rPr sz="1400">
                <a:solidFill>
                  <a:srgbClr val="14062B"/>
                </a:solidFill>
              </a:rPr>
              <a:t> lists invoice schedules and the reminder ladder.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 schedule copies a template invoice </a:t>
            </a:r>
            <a:r>
              <a:rPr b="1" sz="1400">
                <a:solidFill>
                  <a:srgbClr val="5B21B6"/>
                </a:solidFill>
              </a:rPr>
              <a:t>weekly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monthly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quarterly</a:t>
            </a:r>
            <a:r>
              <a:rPr sz="1400">
                <a:solidFill>
                  <a:srgbClr val="14062B"/>
                </a:solidFill>
              </a:rPr>
              <a:t> or every </a:t>
            </a:r>
            <a:r>
              <a:rPr i="1" sz="1400">
                <a:solidFill>
                  <a:srgbClr val="14062B"/>
                </a:solidFill>
              </a:rPr>
              <a:t>n</a:t>
            </a:r>
            <a:r>
              <a:rPr sz="1400">
                <a:solidFill>
                  <a:srgbClr val="14062B"/>
                </a:solidFill>
              </a:rPr>
              <a:t> days. </a:t>
            </a:r>
            <a:r>
              <a:rPr b="1" sz="1400">
                <a:solidFill>
                  <a:srgbClr val="5B21B6"/>
                </a:solidFill>
              </a:rPr>
              <a:t>Run now</a:t>
            </a:r>
            <a:r>
              <a:rPr sz="1400">
                <a:solidFill>
                  <a:srgbClr val="14062B"/>
                </a:solidFill>
              </a:rPr>
              <a:t> is enabled once the next run date is due; </a:t>
            </a:r>
            <a:r>
              <a:rPr b="1" sz="1400">
                <a:solidFill>
                  <a:srgbClr val="5B21B6"/>
                </a:solidFill>
              </a:rPr>
              <a:t>Pause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History</a:t>
            </a:r>
            <a:r>
              <a:rPr sz="1400">
                <a:solidFill>
                  <a:srgbClr val="14062B"/>
                </a:solidFill>
              </a:rPr>
              <a:t> manage the schedule.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Reminders due</a:t>
            </a:r>
            <a:r>
              <a:rPr sz="1400">
                <a:solidFill>
                  <a:srgbClr val="14062B"/>
                </a:solidFill>
              </a:rPr>
              <a:t> lists overdue invoices at each step: 3 days before due, 7 days overdue and 14 days overdue. </a:t>
            </a:r>
            <a:r>
              <a:rPr b="1" sz="1400">
                <a:solidFill>
                  <a:srgbClr val="5B21B6"/>
                </a:solidFill>
              </a:rPr>
              <a:t>Send reminder</a:t>
            </a:r>
            <a:r>
              <a:rPr sz="1400">
                <a:solidFill>
                  <a:srgbClr val="14062B"/>
                </a:solidFill>
              </a:rPr>
              <a:t> or </a:t>
            </a:r>
            <a:r>
              <a:rPr b="1" sz="1400">
                <a:solidFill>
                  <a:srgbClr val="5B21B6"/>
                </a:solidFill>
              </a:rPr>
              <a:t>Skip</a:t>
            </a:r>
            <a:r>
              <a:rPr sz="1400">
                <a:solidFill>
                  <a:srgbClr val="14062B"/>
                </a:solidFill>
              </a:rPr>
              <a:t> each 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E-mail delivery needs </a:t>
            </a:r>
            <a:r>
              <a:rPr sz="1400">
                <a:solidFill>
                  <a:srgbClr val="5B21B6"/>
                </a:solidFill>
                <a:latin typeface="Consolas"/>
              </a:rPr>
              <a:t>POSTMARK_API_TOKEN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sz="1400">
                <a:solidFill>
                  <a:srgbClr val="5B21B6"/>
                </a:solidFill>
                <a:latin typeface="Consolas"/>
              </a:rPr>
              <a:t>FROM_EMAIL</a:t>
            </a:r>
            <a:r>
              <a:rPr sz="1400">
                <a:solidFill>
                  <a:srgbClr val="14062B"/>
                </a:solidFill>
              </a:rPr>
              <a:t>; until then the page says so and nothing is sent.</a:t>
            </a:r>
          </a:p>
        </p:txBody>
      </p:sp>
      <p:pic>
        <p:nvPicPr>
          <p:cNvPr id="5" name="Picture 4" descr="09-recurring-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Create a recurring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Create and save a draft invoice to use as the </a:t>
            </a:r>
            <a:r>
              <a:rPr b="1" sz="1400">
                <a:solidFill>
                  <a:srgbClr val="5B21B6"/>
                </a:solidFill>
              </a:rPr>
              <a:t>Template invoice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Click </a:t>
            </a:r>
            <a:r>
              <a:rPr b="1" sz="1400">
                <a:solidFill>
                  <a:srgbClr val="5B21B6"/>
                </a:solidFill>
              </a:rPr>
              <a:t>New schedule</a:t>
            </a:r>
            <a:r>
              <a:rPr sz="1400">
                <a:solidFill>
                  <a:srgbClr val="14062B"/>
                </a:solidFill>
              </a:rPr>
              <a:t> and give it a </a:t>
            </a:r>
            <a:r>
              <a:rPr b="1" sz="1400">
                <a:solidFill>
                  <a:srgbClr val="5B21B6"/>
                </a:solidFill>
              </a:rPr>
              <a:t>Name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the </a:t>
            </a:r>
            <a:r>
              <a:rPr b="1" sz="1400">
                <a:solidFill>
                  <a:srgbClr val="5B21B6"/>
                </a:solidFill>
              </a:rPr>
              <a:t>Interval</a:t>
            </a:r>
            <a:r>
              <a:rPr sz="1400">
                <a:solidFill>
                  <a:srgbClr val="14062B"/>
                </a:solidFill>
              </a:rPr>
              <a:t>, the </a:t>
            </a:r>
            <a:r>
              <a:rPr b="1" sz="1400">
                <a:solidFill>
                  <a:srgbClr val="5B21B6"/>
                </a:solidFill>
              </a:rPr>
              <a:t>Next run</a:t>
            </a:r>
            <a:r>
              <a:rPr sz="1400">
                <a:solidFill>
                  <a:srgbClr val="14062B"/>
                </a:solidFill>
              </a:rPr>
              <a:t> date and an optional </a:t>
            </a:r>
            <a:r>
              <a:rPr b="1" sz="1400">
                <a:solidFill>
                  <a:srgbClr val="5B21B6"/>
                </a:solidFill>
              </a:rPr>
              <a:t>End date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Tick </a:t>
            </a:r>
            <a:r>
              <a:rPr b="1" sz="1400">
                <a:solidFill>
                  <a:srgbClr val="5B21B6"/>
                </a:solidFill>
              </a:rPr>
              <a:t>Auto-email</a:t>
            </a:r>
            <a:r>
              <a:rPr sz="1400">
                <a:solidFill>
                  <a:srgbClr val="14062B"/>
                </a:solidFill>
              </a:rPr>
              <a:t> to send each new invoice automatically.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Create schedule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Each run creates a normal invoice from the template, so numbering, VAT and posting follow the same rules as invoices you create by hand.</a:t>
            </a:r>
          </a:p>
        </p:txBody>
      </p:sp>
      <p:pic>
        <p:nvPicPr>
          <p:cNvPr id="5" name="Picture 4" descr="10-new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Banking, accounting and tax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Match bank lines to documents, read the ledger and prepare VAT workpapers for accountant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Banking and reconciliation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Banking</a:t>
            </a:r>
            <a:r>
              <a:rPr sz="1400">
                <a:solidFill>
                  <a:srgbClr val="14062B"/>
                </a:solidFill>
              </a:rPr>
              <a:t> shows each bank account and its imported transactions.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Import statement</a:t>
            </a:r>
            <a:r>
              <a:rPr sz="1400">
                <a:solidFill>
                  <a:srgbClr val="14062B"/>
                </a:solidFill>
              </a:rPr>
              <a:t> (CSV or CAMT.053 XML).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Each unmatched line offers explainable match suggestions; click </a:t>
            </a:r>
            <a:r>
              <a:rPr b="1" sz="1400">
                <a:solidFill>
                  <a:srgbClr val="5B21B6"/>
                </a:solidFill>
              </a:rPr>
              <a:t>Review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Confirm match</a:t>
            </a:r>
            <a:r>
              <a:rPr sz="1400">
                <a:solidFill>
                  <a:srgbClr val="14062B"/>
                </a:solidFill>
              </a:rPr>
              <a:t> to allocate the payment to invoices or bills.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Add account</a:t>
            </a:r>
            <a:r>
              <a:rPr sz="1400">
                <a:solidFill>
                  <a:srgbClr val="14062B"/>
                </a:solidFill>
              </a:rPr>
              <a:t> registers another bank account for the client. Confirmed matches post the payment and update invoice and bill statuses.</a:t>
            </a:r>
          </a:p>
        </p:txBody>
      </p:sp>
      <p:pic>
        <p:nvPicPr>
          <p:cNvPr id="5" name="Picture 4" descr="11-b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Accounting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Accounting</a:t>
            </a:r>
            <a:r>
              <a:rPr sz="1400">
                <a:solidFill>
                  <a:srgbClr val="14062B"/>
                </a:solidFill>
              </a:rPr>
              <a:t> builds reports from the immutable, balanced ledger: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Trial balance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Profit &amp; loss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Balance sheet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General ledger</a:t>
            </a:r>
            <a:r>
              <a:rPr sz="1400">
                <a:solidFill>
                  <a:srgbClr val="14062B"/>
                </a:solidFill>
              </a:rPr>
              <a:t> with every posting and its reference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Receivables aging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Payables aging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Cash summary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Choose </a:t>
            </a:r>
            <a:r>
              <a:rPr b="1" sz="1400">
                <a:solidFill>
                  <a:srgbClr val="5B21B6"/>
                </a:solidFill>
              </a:rPr>
              <a:t>From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To</a:t>
            </a:r>
            <a:r>
              <a:rPr sz="1400">
                <a:solidFill>
                  <a:srgbClr val="14062B"/>
                </a:solidFill>
              </a:rPr>
              <a:t>, click </a:t>
            </a:r>
            <a:r>
              <a:rPr b="1" sz="1400">
                <a:solidFill>
                  <a:srgbClr val="5B21B6"/>
                </a:solidFill>
              </a:rPr>
              <a:t>Apply</a:t>
            </a:r>
            <a:r>
              <a:rPr sz="1400">
                <a:solidFill>
                  <a:srgbClr val="14062B"/>
                </a:solidFill>
              </a:rPr>
              <a:t>, and use </a:t>
            </a:r>
            <a:r>
              <a:rPr b="1" sz="1400">
                <a:solidFill>
                  <a:srgbClr val="5B21B6"/>
                </a:solidFill>
              </a:rPr>
              <a:t>Print / save PDF</a:t>
            </a:r>
            <a:r>
              <a:rPr sz="1400">
                <a:solidFill>
                  <a:srgbClr val="14062B"/>
                </a:solidFill>
              </a:rPr>
              <a:t> for the client file. Postings are never edited; corrections are new entries.</a:t>
            </a:r>
          </a:p>
        </p:txBody>
      </p:sp>
      <p:pic>
        <p:nvPicPr>
          <p:cNvPr id="5" name="Picture 4" descr="12-accounting-trial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Estonian VAT (KMD) workpapers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Tax</a:t>
            </a:r>
            <a:r>
              <a:rPr sz="1400">
                <a:solidFill>
                  <a:srgbClr val="14062B"/>
                </a:solidFill>
              </a:rPr>
              <a:t> prepares the Estonian </a:t>
            </a:r>
            <a:r>
              <a:rPr b="1" sz="1400">
                <a:solidFill>
                  <a:srgbClr val="5B21B6"/>
                </a:solidFill>
              </a:rPr>
              <a:t>KMD</a:t>
            </a:r>
            <a:r>
              <a:rPr sz="1400">
                <a:solidFill>
                  <a:srgbClr val="14062B"/>
                </a:solidFill>
              </a:rPr>
              <a:t> (and the UK nine-box VAT return for UK books).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Prepare workpaper</a:t>
            </a:r>
            <a:r>
              <a:rPr sz="1400">
                <a:solidFill>
                  <a:srgbClr val="14062B"/>
                </a:solidFill>
              </a:rPr>
              <a:t> for the period.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Check the boxes against the listed tax codes.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Mark accountant reviewed</a:t>
            </a:r>
            <a:r>
              <a:rPr sz="1400">
                <a:solidFill>
                  <a:srgbClr val="14062B"/>
                </a:solidFill>
              </a:rPr>
              <a:t> before exporting.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Prepare VD</a:t>
            </a:r>
            <a:r>
              <a:rPr sz="1400">
                <a:solidFill>
                  <a:srgbClr val="14062B"/>
                </a:solidFill>
              </a:rPr>
              <a:t> builds the EU sales listing. Exports require accountant review; FastAccounts does not file directly with EMTA or HMRC.</a:t>
            </a:r>
          </a:p>
        </p:txBody>
      </p:sp>
      <p:pic>
        <p:nvPicPr>
          <p:cNvPr id="5" name="Picture 4" descr="13-tax-k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Payroll for accounting bureaus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Estonian 2026 payroll per client: monthly, part-time, hourly and board-member pay, the social tax minimum, payslips and automatic ledger postings.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Employees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Open </a:t>
            </a:r>
            <a:r>
              <a:rPr b="1" sz="1400">
                <a:solidFill>
                  <a:srgbClr val="5B21B6"/>
                </a:solidFill>
              </a:rPr>
              <a:t>Payroll</a:t>
            </a:r>
            <a:r>
              <a:rPr sz="1400">
                <a:solidFill>
                  <a:srgbClr val="14062B"/>
                </a:solidFill>
              </a:rPr>
              <a:t> in an Estonian EUR client (here </a:t>
            </a:r>
            <a:r>
              <a:rPr b="1" sz="1400">
                <a:solidFill>
                  <a:srgbClr val="5B21B6"/>
                </a:solidFill>
              </a:rPr>
              <a:t>Demo OÜ (sample payroll)</a:t>
            </a:r>
            <a:r>
              <a:rPr sz="1400">
                <a:solidFill>
                  <a:srgbClr val="14062B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Gross salary</a:t>
            </a:r>
            <a:r>
              <a:rPr sz="1400">
                <a:solidFill>
                  <a:srgbClr val="14062B"/>
                </a:solidFill>
              </a:rPr>
              <a:t> shows monthly pay, or the </a:t>
            </a:r>
            <a:r>
              <a:rPr b="1" sz="1400">
                <a:solidFill>
                  <a:srgbClr val="5B21B6"/>
                </a:solidFill>
              </a:rPr>
              <a:t>hourly rate per hour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Part-time staff show their fraction (</a:t>
            </a:r>
            <a:r>
              <a:rPr b="1" sz="1400">
                <a:solidFill>
                  <a:srgbClr val="5B21B6"/>
                </a:solidFill>
              </a:rPr>
              <a:t>Part-time 0.5</a:t>
            </a:r>
            <a:r>
              <a:rPr sz="1400">
                <a:solidFill>
                  <a:srgbClr val="14062B"/>
                </a:solidFill>
              </a:rPr>
              <a:t>); board members carry a </a:t>
            </a:r>
            <a:r>
              <a:rPr b="1" sz="1400">
                <a:solidFill>
                  <a:srgbClr val="5B21B6"/>
                </a:solidFill>
              </a:rPr>
              <a:t>Board member</a:t>
            </a:r>
            <a:r>
              <a:rPr sz="1400">
                <a:solidFill>
                  <a:srgbClr val="14062B"/>
                </a:solidFill>
              </a:rPr>
              <a:t> badge.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Pension %</a:t>
            </a:r>
            <a:r>
              <a:rPr sz="1400">
                <a:solidFill>
                  <a:srgbClr val="14062B"/>
                </a:solidFill>
              </a:rPr>
              <a:t> is the II pillar rate (0, 2, 4 or 6%).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Tax-free minimum</a:t>
            </a:r>
            <a:r>
              <a:rPr sz="1400">
                <a:solidFill>
                  <a:srgbClr val="14062B"/>
                </a:solidFill>
              </a:rPr>
              <a:t> shows who applies the €700 basic exemption here.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Add employee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Run payroll for month</a:t>
            </a:r>
            <a:r>
              <a:rPr sz="1400">
                <a:solidFill>
                  <a:srgbClr val="14062B"/>
                </a:solidFill>
              </a:rPr>
              <a:t> are at the top right.</a:t>
            </a:r>
          </a:p>
        </p:txBody>
      </p:sp>
      <p:pic>
        <p:nvPicPr>
          <p:cNvPr id="5" name="Picture 4" descr="14-payroll-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Part-time employee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Pay basis</a:t>
            </a:r>
            <a:r>
              <a:rPr sz="1400">
                <a:solidFill>
                  <a:srgbClr val="14062B"/>
                </a:solidFill>
              </a:rPr>
              <a:t>: </a:t>
            </a:r>
            <a:r>
              <a:rPr b="1" sz="1400">
                <a:solidFill>
                  <a:srgbClr val="5B21B6"/>
                </a:solidFill>
              </a:rPr>
              <a:t>Monthly salary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Monthly salary or board fee</a:t>
            </a:r>
            <a:r>
              <a:rPr sz="1400">
                <a:solidFill>
                  <a:srgbClr val="14062B"/>
                </a:solidFill>
              </a:rPr>
              <a:t>: the contractual monthly gross (€700).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Work-time fraction (FTE)</a:t>
            </a:r>
            <a:r>
              <a:rPr sz="1400">
                <a:solidFill>
                  <a:srgbClr val="14062B"/>
                </a:solidFill>
              </a:rPr>
              <a:t>: 0.5 for half time.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Pension %</a:t>
            </a:r>
            <a:r>
              <a:rPr sz="1400">
                <a:solidFill>
                  <a:srgbClr val="14062B"/>
                </a:solidFill>
              </a:rPr>
              <a:t>: 0% is allowed for anyone not in the II pillar.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The minimum-wage check is pro-rated: €946 × 0.5 = €473 from 1 April 2026 (€886 before). Set </a:t>
            </a:r>
            <a:r>
              <a:rPr b="1" sz="1400">
                <a:solidFill>
                  <a:srgbClr val="5B21B6"/>
                </a:solidFill>
              </a:rPr>
              <a:t>Employment start date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end date</a:t>
            </a:r>
            <a:r>
              <a:rPr sz="1400">
                <a:solidFill>
                  <a:srgbClr val="14062B"/>
                </a:solidFill>
              </a:rPr>
              <a:t> so pay runs skip people outside their employment.</a:t>
            </a:r>
          </a:p>
        </p:txBody>
      </p:sp>
      <p:pic>
        <p:nvPicPr>
          <p:cNvPr id="5" name="Picture 4" descr="15-employee-part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Hourly employee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Pay basis</a:t>
            </a:r>
            <a:r>
              <a:rPr sz="1400">
                <a:solidFill>
                  <a:srgbClr val="14062B"/>
                </a:solidFill>
              </a:rPr>
              <a:t>: </a:t>
            </a:r>
            <a:r>
              <a:rPr b="1" sz="1400">
                <a:solidFill>
                  <a:srgbClr val="5B21B6"/>
                </a:solidFill>
              </a:rPr>
              <a:t>Hourly pay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Hourly rate</a:t>
            </a:r>
            <a:r>
              <a:rPr sz="1400">
                <a:solidFill>
                  <a:srgbClr val="14062B"/>
                </a:solidFill>
              </a:rPr>
              <a:t>: €8.00 here; the minimum is €5.67/h from 1 April 2026 (€5.31 before).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Hours are entered in each month's pay run.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Board member fee</a:t>
            </a:r>
            <a:r>
              <a:rPr sz="1400">
                <a:solidFill>
                  <a:srgbClr val="14062B"/>
                </a:solidFill>
              </a:rPr>
              <a:t> is the third pay basis: no unemployment insurance and no social tax minimum. </a:t>
            </a:r>
            <a:r>
              <a:rPr b="1" sz="1400">
                <a:solidFill>
                  <a:srgbClr val="5B21B6"/>
                </a:solidFill>
              </a:rPr>
              <a:t>Social tax minimum exemption</a:t>
            </a:r>
            <a:r>
              <a:rPr sz="1400">
                <a:solidFill>
                  <a:srgbClr val="14062B"/>
                </a:solidFill>
              </a:rPr>
              <a:t> records why the minimum does not apply to a person (see the reference section).</a:t>
            </a:r>
          </a:p>
        </p:txBody>
      </p:sp>
      <p:pic>
        <p:nvPicPr>
          <p:cNvPr id="5" name="Picture 4" descr="16-employee-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Review a draft pay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The October 2026 draft lists gross, net and employer cost for the client (€16,254.00 gross, €21,797.23 employer cost). </a:t>
            </a:r>
            <a:r>
              <a:rPr b="1" sz="1400">
                <a:solidFill>
                  <a:srgbClr val="5B21B6"/>
                </a:solidFill>
              </a:rPr>
              <a:t>Employee breakdown</a:t>
            </a:r>
            <a:r>
              <a:rPr sz="1400">
                <a:solidFill>
                  <a:srgbClr val="14062B"/>
                </a:solidFill>
              </a:rPr>
              <a:t> shows: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Peeter Oja</a:t>
            </a:r>
            <a:r>
              <a:rPr sz="1400">
                <a:solidFill>
                  <a:srgbClr val="14062B"/>
                </a:solidFill>
              </a:rPr>
              <a:t>: €8.00 × 176 hours = €1,408.00 gross.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Liis Kuusk</a:t>
            </a:r>
            <a:r>
              <a:rPr sz="1400">
                <a:solidFill>
                  <a:srgbClr val="14062B"/>
                </a:solidFill>
              </a:rPr>
              <a:t> (0.5 FTE, €700): social tax €292.38, including a </a:t>
            </a:r>
            <a:r>
              <a:rPr b="1" sz="1400">
                <a:solidFill>
                  <a:srgbClr val="5B21B6"/>
                </a:solidFill>
              </a:rPr>
              <a:t>Social tax minimum top-up</a:t>
            </a:r>
            <a:r>
              <a:rPr sz="1400">
                <a:solidFill>
                  <a:srgbClr val="14062B"/>
                </a:solidFill>
              </a:rPr>
              <a:t> of €61.38 paid by the employer.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Income tax, II pillar, net pay and employer cost per person.</a:t>
            </a:r>
          </a:p>
        </p:txBody>
      </p:sp>
      <p:pic>
        <p:nvPicPr>
          <p:cNvPr id="5" name="Picture 4" descr="17-pay-run-draft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Run payroll for a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Click </a:t>
            </a:r>
            <a:r>
              <a:rPr b="1" sz="1400">
                <a:solidFill>
                  <a:srgbClr val="5B21B6"/>
                </a:solidFill>
              </a:rPr>
              <a:t>Run payroll for month</a:t>
            </a:r>
            <a:r>
              <a:rPr sz="1400">
                <a:solidFill>
                  <a:srgbClr val="14062B"/>
                </a:solidFill>
              </a:rPr>
              <a:t> and choose the </a:t>
            </a:r>
            <a:r>
              <a:rPr b="1" sz="1400">
                <a:solidFill>
                  <a:srgbClr val="5B21B6"/>
                </a:solidFill>
              </a:rPr>
              <a:t>Month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Check the </a:t>
            </a:r>
            <a:r>
              <a:rPr b="1" sz="1400">
                <a:solidFill>
                  <a:srgbClr val="5B21B6"/>
                </a:solidFill>
              </a:rPr>
              <a:t>Included employees</a:t>
            </a:r>
            <a:r>
              <a:rPr sz="1400">
                <a:solidFill>
                  <a:srgbClr val="14062B"/>
                </a:solidFill>
              </a:rPr>
              <a:t> (active and employed in that month).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</a:t>
            </a:r>
            <a:r>
              <a:rPr b="1" sz="1400">
                <a:solidFill>
                  <a:srgbClr val="5B21B6"/>
                </a:solidFill>
              </a:rPr>
              <a:t>Hours worked</a:t>
            </a:r>
            <a:r>
              <a:rPr sz="1400">
                <a:solidFill>
                  <a:srgbClr val="14062B"/>
                </a:solidFill>
              </a:rPr>
              <a:t> for each hourly employee.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Create draft</a:t>
            </a:r>
            <a:r>
              <a:rPr sz="1400">
                <a:solidFill>
                  <a:srgbClr val="14062B"/>
                </a:solidFill>
              </a:rPr>
              <a:t> and confirm.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Employee details are frozen in the draft, so later edits do not change it. A failed minimum-wage check names the employee and the amount.</a:t>
            </a:r>
          </a:p>
        </p:txBody>
      </p:sp>
      <p:pic>
        <p:nvPicPr>
          <p:cNvPr id="5" name="Picture 4" descr="18-pay-run-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Approve and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Approve &amp; post</a:t>
            </a:r>
            <a:r>
              <a:rPr sz="1400">
                <a:solidFill>
                  <a:srgbClr val="14062B"/>
                </a:solidFill>
              </a:rPr>
              <a:t> shows the employer cost and asks for confirmation. Approval: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posts one balanced payroll entry to the client's ledger;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locks the run (delete or edit only while it is a draft);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makes the </a:t>
            </a:r>
            <a:r>
              <a:rPr b="1" sz="1400">
                <a:solidFill>
                  <a:srgbClr val="5B21B6"/>
                </a:solidFill>
              </a:rPr>
              <a:t>Payslips PDF</a:t>
            </a:r>
            <a:r>
              <a:rPr sz="1400">
                <a:solidFill>
                  <a:srgbClr val="14062B"/>
                </a:solidFill>
              </a:rPr>
              <a:t> available.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Delete a wrong draft with </a:t>
            </a:r>
            <a:r>
              <a:rPr b="1" sz="1400">
                <a:solidFill>
                  <a:srgbClr val="5B21B6"/>
                </a:solidFill>
              </a:rPr>
              <a:t>Delete draft</a:t>
            </a:r>
            <a:r>
              <a:rPr sz="1400">
                <a:solidFill>
                  <a:srgbClr val="14062B"/>
                </a:solidFill>
              </a:rPr>
              <a:t> and create it again.</a:t>
            </a:r>
          </a:p>
        </p:txBody>
      </p:sp>
      <p:pic>
        <p:nvPicPr>
          <p:cNvPr id="5" name="Picture 4" descr="19-pay-run-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Payslips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Payslips PDF</a:t>
            </a:r>
            <a:r>
              <a:rPr sz="1400">
                <a:solidFill>
                  <a:srgbClr val="14062B"/>
                </a:solidFill>
              </a:rPr>
              <a:t> produces one page per employee (Estonian </a:t>
            </a:r>
            <a:r>
              <a:rPr i="1" sz="1400">
                <a:solidFill>
                  <a:srgbClr val="14062B"/>
                </a:solidFill>
              </a:rPr>
              <a:t>palgaleht</a:t>
            </a:r>
            <a:r>
              <a:rPr sz="1400">
                <a:solidFill>
                  <a:srgbClr val="14062B"/>
                </a:solidFill>
              </a:rPr>
              <a:t>):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gross pay, or hourly rate × hours, and the work-time fraction;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II pillar, employee unemployment insurance, tax-free minimum used, income tax;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net pay, social tax with its base and any </a:t>
            </a:r>
            <a:r>
              <a:rPr b="1" sz="1400">
                <a:solidFill>
                  <a:srgbClr val="5B21B6"/>
                </a:solidFill>
              </a:rPr>
              <a:t>minimum top-up</a:t>
            </a:r>
            <a:r>
              <a:rPr sz="1400">
                <a:solidFill>
                  <a:srgbClr val="14062B"/>
                </a:solidFill>
              </a:rPr>
              <a:t>, employer unemployment insurance and total employer cost.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Submitting the TSD return to EMTA is not automated; the accountant files it.</a:t>
            </a:r>
          </a:p>
        </p:txBody>
      </p:sp>
      <p:pic>
        <p:nvPicPr>
          <p:cNvPr id="5" name="Picture 4" descr="20-payslip-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362065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Payroll in the ledger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Each approved run posts to the client's payroll accounts, for example: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6110</a:t>
            </a:r>
            <a:r>
              <a:rPr sz="1400">
                <a:solidFill>
                  <a:srgbClr val="14062B"/>
                </a:solidFill>
              </a:rPr>
              <a:t> salaries, </a:t>
            </a:r>
            <a:r>
              <a:rPr b="1" sz="1400">
                <a:solidFill>
                  <a:srgbClr val="5B21B6"/>
                </a:solidFill>
              </a:rPr>
              <a:t>6120</a:t>
            </a:r>
            <a:r>
              <a:rPr sz="1400">
                <a:solidFill>
                  <a:srgbClr val="14062B"/>
                </a:solidFill>
              </a:rPr>
              <a:t> social tax, </a:t>
            </a:r>
            <a:r>
              <a:rPr b="1" sz="1400">
                <a:solidFill>
                  <a:srgbClr val="5B21B6"/>
                </a:solidFill>
              </a:rPr>
              <a:t>6130</a:t>
            </a:r>
            <a:r>
              <a:rPr sz="1400">
                <a:solidFill>
                  <a:srgbClr val="14062B"/>
                </a:solidFill>
              </a:rPr>
              <a:t> employer unemployment insurance;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2210</a:t>
            </a:r>
            <a:r>
              <a:rPr sz="1400">
                <a:solidFill>
                  <a:srgbClr val="14062B"/>
                </a:solidFill>
              </a:rPr>
              <a:t> net pay owed, </a:t>
            </a:r>
            <a:r>
              <a:rPr b="1" sz="1400">
                <a:solidFill>
                  <a:srgbClr val="5B21B6"/>
                </a:solidFill>
              </a:rPr>
              <a:t>2220</a:t>
            </a:r>
            <a:r>
              <a:rPr sz="1400">
                <a:solidFill>
                  <a:srgbClr val="14062B"/>
                </a:solidFill>
              </a:rPr>
              <a:t> income tax withheld, </a:t>
            </a:r>
            <a:r>
              <a:rPr b="1" sz="1400">
                <a:solidFill>
                  <a:srgbClr val="5B21B6"/>
                </a:solidFill>
              </a:rPr>
              <a:t>2230</a:t>
            </a:r>
            <a:r>
              <a:rPr sz="1400">
                <a:solidFill>
                  <a:srgbClr val="14062B"/>
                </a:solidFill>
              </a:rPr>
              <a:t> pension and unemployment insurance, </a:t>
            </a:r>
            <a:r>
              <a:rPr b="1" sz="1400">
                <a:solidFill>
                  <a:srgbClr val="5B21B6"/>
                </a:solidFill>
              </a:rPr>
              <a:t>2240</a:t>
            </a:r>
            <a:r>
              <a:rPr sz="1400">
                <a:solidFill>
                  <a:srgbClr val="14062B"/>
                </a:solidFill>
              </a:rPr>
              <a:t> social tax payable.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The social tax minimum top-up is a separate line with its own description, so it is easy to explain to the client. Postings appear under their period end.</a:t>
            </a:r>
          </a:p>
        </p:txBody>
      </p:sp>
      <p:pic>
        <p:nvPicPr>
          <p:cNvPr id="5" name="Picture 4" descr="21-payroll-general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Social tax minimum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Sources: Sotsiaalmaksuseadus § 2 lg 2–4; Rahandusministri määrus nr 17; EMTA "Sotsiaalmaks". Choose the matching </a:t>
            </a:r>
            <a:r>
              <a:rPr b="1" sz="1400">
                <a:solidFill>
                  <a:srgbClr val="5B21B6"/>
                </a:solidFill>
              </a:rPr>
              <a:t>Social tax minimum exemption</a:t>
            </a:r>
            <a:r>
              <a:rPr sz="1400">
                <a:solidFill>
                  <a:srgbClr val="14062B"/>
                </a:solidFill>
              </a:rPr>
              <a:t> on the employee; it is printed on the payslip.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743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Monthly minimum base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€886 → minimum social tax €292.38 per employee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Who pays the shortfall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Employer, as an extra employer cost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Part-month employment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Base pro-rated by calendar days employed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Board-member fees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Outside the obligation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Exemption recorded per employee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Pensioners, reduced work ability, child care, students, previously unemployed, shortened working time, council members, ship crew, foreign-service spouses, long-term sick leave, absent all month, another employer applies the exemption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Integrations and HR import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Connect each client's HR system once, then review every imported employee before payroll data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Integrations</a:t>
            </a:r>
            <a:r>
              <a:rPr sz="1400">
                <a:solidFill>
                  <a:srgbClr val="14062B"/>
                </a:solidFill>
              </a:rPr>
              <a:t> (under </a:t>
            </a:r>
            <a:r>
              <a:rPr b="1" sz="1400">
                <a:solidFill>
                  <a:srgbClr val="5B21B6"/>
                </a:solidFill>
              </a:rPr>
              <a:t>Settings</a:t>
            </a:r>
            <a:r>
              <a:rPr sz="1400">
                <a:solidFill>
                  <a:srgbClr val="14062B"/>
                </a:solidFill>
              </a:rPr>
              <a:t>) lists ready connectors first, with: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Registry status</a:t>
            </a:r>
            <a:r>
              <a:rPr sz="1400">
                <a:solidFill>
                  <a:srgbClr val="14062B"/>
                </a:solidFill>
              </a:rPr>
              <a:t> — what the adapter supports today;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Connection status</a:t>
            </a:r>
            <a:r>
              <a:rPr sz="1400">
                <a:solidFill>
                  <a:srgbClr val="14062B"/>
                </a:solidFill>
              </a:rPr>
              <a:t> — this client's connection.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Employee file import</a:t>
            </a:r>
            <a:r>
              <a:rPr sz="1400">
                <a:solidFill>
                  <a:srgbClr val="14062B"/>
                </a:solidFill>
              </a:rPr>
              <a:t> needs no connection; </a:t>
            </a:r>
            <a:r>
              <a:rPr b="1" sz="1400">
                <a:solidFill>
                  <a:srgbClr val="5B21B6"/>
                </a:solidFill>
              </a:rPr>
              <a:t>FastHR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QuickBooks Online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Xero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b="1" sz="1400">
                <a:solidFill>
                  <a:srgbClr val="5B21B6"/>
                </a:solidFill>
              </a:rPr>
              <a:t>Merit Aktiva</a:t>
            </a:r>
            <a:r>
              <a:rPr sz="1400">
                <a:solidFill>
                  <a:srgbClr val="14062B"/>
                </a:solidFill>
              </a:rPr>
              <a:t> are ready to connect. Planned integrations are listed below; </a:t>
            </a:r>
            <a:r>
              <a:rPr b="1" sz="1400">
                <a:solidFill>
                  <a:srgbClr val="5B21B6"/>
                </a:solidFill>
              </a:rPr>
              <a:t>Public catalogue</a:t>
            </a:r>
            <a:r>
              <a:rPr sz="1400">
                <a:solidFill>
                  <a:srgbClr val="14062B"/>
                </a:solidFill>
              </a:rPr>
              <a:t> opens the full list on the public site.</a:t>
            </a:r>
          </a:p>
        </p:txBody>
      </p:sp>
      <p:pic>
        <p:nvPicPr>
          <p:cNvPr id="5" name="Picture 4" descr="22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Connect FastHR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Click </a:t>
            </a:r>
            <a:r>
              <a:rPr b="1" sz="1400">
                <a:solidFill>
                  <a:srgbClr val="5B21B6"/>
                </a:solidFill>
              </a:rPr>
              <a:t>Configure</a:t>
            </a:r>
            <a:r>
              <a:rPr sz="1400">
                <a:solidFill>
                  <a:srgbClr val="14062B"/>
                </a:solidFill>
              </a:rPr>
              <a:t> on the FastHR card.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Enter the </a:t>
            </a:r>
            <a:r>
              <a:rPr b="1" sz="1400">
                <a:solidFill>
                  <a:srgbClr val="5B21B6"/>
                </a:solidFill>
              </a:rPr>
              <a:t>Base URL</a:t>
            </a:r>
            <a:r>
              <a:rPr sz="1400">
                <a:solidFill>
                  <a:srgbClr val="14062B"/>
                </a:solidFill>
              </a:rPr>
              <a:t> and the client's </a:t>
            </a:r>
            <a:r>
              <a:rPr b="1" sz="1400">
                <a:solidFill>
                  <a:srgbClr val="5B21B6"/>
                </a:solidFill>
              </a:rPr>
              <a:t>API token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Save configuration</a:t>
            </a:r>
            <a:r>
              <a:rPr sz="1400">
                <a:solidFill>
                  <a:srgbClr val="14062B"/>
                </a:solidFill>
              </a:rPr>
              <a:t>, then </a:t>
            </a:r>
            <a:r>
              <a:rPr b="1" sz="1400">
                <a:solidFill>
                  <a:srgbClr val="5B21B6"/>
                </a:solidFill>
              </a:rPr>
              <a:t>Test connection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Secrets are encrypted per client and never shown again; enter a new token to replace one. </a:t>
            </a:r>
            <a:r>
              <a:rPr b="1" sz="1400">
                <a:solidFill>
                  <a:srgbClr val="5B21B6"/>
                </a:solidFill>
              </a:rPr>
              <a:t>Disconnect</a:t>
            </a:r>
            <a:r>
              <a:rPr sz="1400">
                <a:solidFill>
                  <a:srgbClr val="14062B"/>
                </a:solidFill>
              </a:rPr>
              <a:t> removes the connection; FastHR is read-only, so nothing is ever written back.</a:t>
            </a:r>
          </a:p>
        </p:txBody>
      </p:sp>
      <p:pic>
        <p:nvPicPr>
          <p:cNvPr id="5" name="Picture 4" descr="23-fasthr-con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Run an employee import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Run employee import</a:t>
            </a:r>
            <a:r>
              <a:rPr sz="1400">
                <a:solidFill>
                  <a:srgbClr val="14062B"/>
                </a:solidFill>
              </a:rPr>
              <a:t> stages FastHR employees for review; nothing changes yet.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Matched employee</a:t>
            </a:r>
            <a:r>
              <a:rPr sz="1400">
                <a:solidFill>
                  <a:srgbClr val="14062B"/>
                </a:solidFill>
              </a:rPr>
              <a:t> links a record to an existing employee by e-mail or personal code.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FastHR's annual base salary becomes the monthly gross (÷ 12); its work-time ratio becomes the FTE; hourly staff become hourly pay.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 </a:t>
            </a:r>
            <a:r>
              <a:rPr b="1" sz="1400">
                <a:solidFill>
                  <a:srgbClr val="5B21B6"/>
                </a:solidFill>
              </a:rPr>
              <a:t>Review note</a:t>
            </a:r>
            <a:r>
              <a:rPr sz="1400">
                <a:solidFill>
                  <a:srgbClr val="14062B"/>
                </a:solidFill>
              </a:rPr>
              <a:t> warns when FastHR has no salary or hourly rate.</a:t>
            </a:r>
          </a:p>
        </p:txBody>
      </p:sp>
      <p:pic>
        <p:nvPicPr>
          <p:cNvPr id="5" name="Picture 4" descr="24-fasthr-impor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Apply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Tick </a:t>
            </a:r>
            <a:r>
              <a:rPr b="1" sz="1400">
                <a:solidFill>
                  <a:srgbClr val="5B21B6"/>
                </a:solidFill>
              </a:rPr>
              <a:t>Approve</a:t>
            </a:r>
            <a:r>
              <a:rPr sz="1400">
                <a:solidFill>
                  <a:srgbClr val="14062B"/>
                </a:solidFill>
              </a:rPr>
              <a:t> or </a:t>
            </a:r>
            <a:r>
              <a:rPr b="1" sz="1400">
                <a:solidFill>
                  <a:srgbClr val="5B21B6"/>
                </a:solidFill>
              </a:rPr>
              <a:t>Reject</a:t>
            </a:r>
            <a:r>
              <a:rPr sz="1400">
                <a:solidFill>
                  <a:srgbClr val="14062B"/>
                </a:solidFill>
              </a:rPr>
              <a:t> for each record.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Apply decisions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Import outcomes</a:t>
            </a:r>
            <a:r>
              <a:rPr sz="1400">
                <a:solidFill>
                  <a:srgbClr val="14062B"/>
                </a:solidFill>
              </a:rPr>
              <a:t> counts applied, updated, unchanged, rejected and failed records and lists the reasons. A record without pay is skipped, not guessed; fix it in FastHR and use </a:t>
            </a:r>
            <a:r>
              <a:rPr b="1" sz="1400">
                <a:solidFill>
                  <a:srgbClr val="5B21B6"/>
                </a:solidFill>
              </a:rPr>
              <a:t>Retry apply</a:t>
            </a:r>
            <a:r>
              <a:rPr sz="1400">
                <a:solidFill>
                  <a:srgbClr val="14062B"/>
                </a:solidFill>
              </a:rPr>
              <a:t>. </a:t>
            </a:r>
            <a:r>
              <a:rPr b="1" sz="1400">
                <a:solidFill>
                  <a:srgbClr val="5B21B6"/>
                </a:solidFill>
              </a:rPr>
              <a:t>Recent runs</a:t>
            </a:r>
            <a:r>
              <a:rPr sz="1400">
                <a:solidFill>
                  <a:srgbClr val="14062B"/>
                </a:solidFill>
              </a:rPr>
              <a:t> keeps the history.</a:t>
            </a:r>
          </a:p>
        </p:txBody>
      </p:sp>
      <p:pic>
        <p:nvPicPr>
          <p:cNvPr id="5" name="Picture 4" descr="25-fasthr-import-appl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Import an employee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For clients whose payroll or HR system has no connector, use a file export.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On the </a:t>
            </a:r>
            <a:r>
              <a:rPr b="1" sz="1400">
                <a:solidFill>
                  <a:srgbClr val="5B21B6"/>
                </a:solidFill>
              </a:rPr>
              <a:t>Employee file import</a:t>
            </a:r>
            <a:r>
              <a:rPr sz="1400">
                <a:solidFill>
                  <a:srgbClr val="14062B"/>
                </a:solidFill>
              </a:rPr>
              <a:t> card, click </a:t>
            </a:r>
            <a:r>
              <a:rPr b="1" sz="1400">
                <a:solidFill>
                  <a:srgbClr val="5B21B6"/>
                </a:solidFill>
              </a:rPr>
              <a:t>Import file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Choose a </a:t>
            </a:r>
            <a:r>
              <a:rPr b="1" sz="1400">
                <a:solidFill>
                  <a:srgbClr val="5B21B6"/>
                </a:solidFill>
              </a:rPr>
              <a:t>CSV or TSV file</a:t>
            </a:r>
            <a:r>
              <a:rPr sz="1400">
                <a:solidFill>
                  <a:srgbClr val="14062B"/>
                </a:solidFill>
              </a:rPr>
              <a:t>, or paste its contents.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Stage employees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Recognised headers include </a:t>
            </a:r>
            <a:r>
              <a:rPr i="1" sz="1400">
                <a:solidFill>
                  <a:srgbClr val="14062B"/>
                </a:solidFill>
              </a:rPr>
              <a:t>Employee ID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Name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Email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Salary</a:t>
            </a:r>
            <a:r>
              <a:rPr sz="1400">
                <a:solidFill>
                  <a:srgbClr val="14062B"/>
                </a:solidFill>
              </a:rPr>
              <a:t> (monthly), </a:t>
            </a:r>
            <a:r>
              <a:rPr i="1" sz="1400">
                <a:solidFill>
                  <a:srgbClr val="14062B"/>
                </a:solidFill>
              </a:rPr>
              <a:t>Personal ID</a:t>
            </a:r>
            <a:r>
              <a:rPr sz="1400">
                <a:solidFill>
                  <a:srgbClr val="14062B"/>
                </a:solidFill>
              </a:rPr>
              <a:t> and </a:t>
            </a:r>
            <a:r>
              <a:rPr i="1" sz="1400">
                <a:solidFill>
                  <a:srgbClr val="14062B"/>
                </a:solidFill>
              </a:rPr>
              <a:t>Status</a:t>
            </a:r>
            <a:r>
              <a:rPr sz="1400">
                <a:solidFill>
                  <a:srgbClr val="14062B"/>
                </a:solidFill>
              </a:rPr>
              <a:t>, also in Estonian (</a:t>
            </a:r>
            <a:r>
              <a:rPr i="1" sz="1400">
                <a:solidFill>
                  <a:srgbClr val="14062B"/>
                </a:solidFill>
              </a:rPr>
              <a:t>Nimi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E-post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Palk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Isikukood</a:t>
            </a:r>
            <a:r>
              <a:rPr sz="1400">
                <a:solidFill>
                  <a:srgbClr val="14062B"/>
                </a:solidFill>
              </a:rPr>
              <a:t>). Export Excel workbooks as CSV first. The raw file is not stored.</a:t>
            </a:r>
          </a:p>
        </p:txBody>
      </p:sp>
      <p:pic>
        <p:nvPicPr>
          <p:cNvPr id="5" name="Picture 4" descr="26-file-impor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Review a file import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 file import uses the same review as FastHR: each row is staged as </a:t>
            </a:r>
            <a:r>
              <a:rPr b="1" sz="1400">
                <a:solidFill>
                  <a:srgbClr val="5B21B6"/>
                </a:solidFill>
              </a:rPr>
              <a:t>Pending</a:t>
            </a:r>
            <a:r>
              <a:rPr sz="1400">
                <a:solidFill>
                  <a:srgbClr val="14062B"/>
                </a:solidFill>
              </a:rPr>
              <a:t>, matched to existing employees by e-mail or personal ID, and changes nothing until you </a:t>
            </a:r>
            <a:r>
              <a:rPr b="1" sz="1400">
                <a:solidFill>
                  <a:srgbClr val="5B21B6"/>
                </a:solidFill>
              </a:rPr>
              <a:t>Approve</a:t>
            </a:r>
            <a:r>
              <a:rPr sz="1400">
                <a:solidFill>
                  <a:srgbClr val="14062B"/>
                </a:solidFill>
              </a:rPr>
              <a:t> it and </a:t>
            </a:r>
            <a:r>
              <a:rPr b="1" sz="1400">
                <a:solidFill>
                  <a:srgbClr val="5B21B6"/>
                </a:solidFill>
              </a:rPr>
              <a:t>Apply decisions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Re-importing the same file is safe: unchanged rows are reported as </a:t>
            </a:r>
            <a:r>
              <a:rPr b="1" sz="1400">
                <a:solidFill>
                  <a:srgbClr val="5B21B6"/>
                </a:solidFill>
              </a:rPr>
              <a:t>Unchanged</a:t>
            </a:r>
            <a:r>
              <a:rPr sz="1400">
                <a:solidFill>
                  <a:srgbClr val="14062B"/>
                </a:solidFill>
              </a:rPr>
              <a:t> instead of creating duplicates. </a:t>
            </a:r>
            <a:r>
              <a:rPr b="1" sz="1400">
                <a:solidFill>
                  <a:srgbClr val="5B21B6"/>
                </a:solidFill>
              </a:rPr>
              <a:t>Recent runs</a:t>
            </a:r>
            <a:r>
              <a:rPr sz="1400">
                <a:solidFill>
                  <a:srgbClr val="14062B"/>
                </a:solidFill>
              </a:rPr>
              <a:t> lists earlier file imports for this client.</a:t>
            </a:r>
          </a:p>
        </p:txBody>
      </p:sp>
      <p:pic>
        <p:nvPicPr>
          <p:cNvPr id="5" name="Picture 4" descr="27-file-impor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Imported employees in payroll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Approved records appear in </a:t>
            </a:r>
            <a:r>
              <a:rPr b="1" sz="1400">
                <a:solidFill>
                  <a:srgbClr val="5B21B6"/>
                </a:solidFill>
              </a:rPr>
              <a:t>Payroll</a:t>
            </a:r>
            <a:r>
              <a:rPr sz="1400">
                <a:solidFill>
                  <a:srgbClr val="14062B"/>
                </a:solidFill>
              </a:rPr>
              <a:t> like any other employee: here </a:t>
            </a:r>
            <a:r>
              <a:rPr b="1" sz="1400">
                <a:solidFill>
                  <a:srgbClr val="5B21B6"/>
                </a:solidFill>
              </a:rPr>
              <a:t>Eva Näidis</a:t>
            </a:r>
            <a:r>
              <a:rPr sz="1400">
                <a:solidFill>
                  <a:srgbClr val="14062B"/>
                </a:solidFill>
              </a:rPr>
              <a:t> (part-time 0.6, €1,200.00 a month from €14,400 a year) and </a:t>
            </a:r>
            <a:r>
              <a:rPr b="1" sz="1400">
                <a:solidFill>
                  <a:srgbClr val="5B21B6"/>
                </a:solidFill>
              </a:rPr>
              <a:t>Rein Proov</a:t>
            </a:r>
            <a:r>
              <a:rPr sz="1400">
                <a:solidFill>
                  <a:srgbClr val="14062B"/>
                </a:solidFill>
              </a:rPr>
              <a:t> (hourly, €7.50).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Before the next pay run, complete what FastHR does not hold: II pillar rate, basic exemption application and any social tax minimum exemption.</a:t>
            </a:r>
          </a:p>
        </p:txBody>
      </p:sp>
      <p:pic>
        <p:nvPicPr>
          <p:cNvPr id="5" name="Picture 4" descr="28-payroll-after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Reference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2026 Estonian payroll rates, what FastAccounts does not do, and where to find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Estonian payroll rates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Sources: EMTA "Maksumäärad"; Vabariigi Valitsuse määrus nr 36 (23.03.2026). Money is calculated with exact decimals and rounded half-up to cents.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5577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Rate or amount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Income tax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Basic exemption (on written application)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€700 per month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Social tax (employer)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33%, minimum base €886 per month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Unemployment insurance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employee 1.6%, employer 0.8%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Funded pension (II pillar)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0%, 2%, 4% or 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Minimum wage until 31.03.2026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€886 per month, €5.31 per hour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Minimum wage from 01.04.2026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€946 per month, €5.67 per hour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Limits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Filing</a:t>
            </a:r>
            <a:r>
              <a:rPr sz="1400">
                <a:solidFill>
                  <a:srgbClr val="14062B"/>
                </a:solidFill>
              </a:rPr>
              <a:t>: KMD and VD workpapers are prepared for accountant review and exported; nothing is filed with EMTA or HMRC automatically.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E-mail</a:t>
            </a:r>
            <a:r>
              <a:rPr sz="1400">
                <a:solidFill>
                  <a:srgbClr val="14062B"/>
                </a:solidFill>
              </a:rPr>
              <a:t>: reminders and auto-e-mailed invoices need Postmark settings.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Payroll</a:t>
            </a:r>
            <a:r>
              <a:rPr sz="1400">
                <a:solidFill>
                  <a:srgbClr val="14062B"/>
                </a:solidFill>
              </a:rPr>
              <a:t>: Estonian EUR books and 2026 periods only. Leave, sickness, benefits, non-resident cases, TSD submission and salary payments are outside the calculation; accountant UAT is pending (</a:t>
            </a:r>
            <a:r>
              <a:rPr sz="1400">
                <a:solidFill>
                  <a:srgbClr val="5B21B6"/>
                </a:solidFill>
                <a:latin typeface="Consolas"/>
              </a:rPr>
              <a:t>docs/payroll_rules.md</a:t>
            </a:r>
            <a:r>
              <a:rPr sz="1400">
                <a:solidFill>
                  <a:srgbClr val="14062B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Imports</a:t>
            </a:r>
            <a:r>
              <a:rPr sz="1400">
                <a:solidFill>
                  <a:srgbClr val="14062B"/>
                </a:solidFill>
              </a:rPr>
              <a:t>: FastHR imports employee master data, not hours or leave.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Release notes are in </a:t>
            </a:r>
            <a:r>
              <a:rPr sz="1400">
                <a:solidFill>
                  <a:srgbClr val="5B21B6"/>
                </a:solidFill>
                <a:latin typeface="Consolas"/>
              </a:rPr>
              <a:t>docs/change_log.md</a:t>
            </a:r>
            <a:r>
              <a:rPr sz="1400">
                <a:solidFill>
                  <a:srgbClr val="14062B"/>
                </a:solidFill>
              </a:rPr>
              <a:t>; rebuild this guide with </a:t>
            </a:r>
            <a:r>
              <a:rPr sz="1400">
                <a:solidFill>
                  <a:srgbClr val="5B21B6"/>
                </a:solidFill>
                <a:latin typeface="Consolas"/>
              </a:rPr>
              <a:t>docs/USER_GUIDE_BUILD.md</a:t>
            </a:r>
            <a:r>
              <a:rPr sz="1400">
                <a:solidFill>
                  <a:srgbClr val="14062B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User guide · v0.4.0 · 2026-10-09 · fastaccounts.org ·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