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874519"/>
            <a:ext cx="12191695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94560"/>
            <a:ext cx="1036289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>
                <a:solidFill>
                  <a:srgbClr val="FFFFFF"/>
                </a:solidFill>
              </a:rPr>
              <a:t>FastAccounts</a:t>
            </a:r>
          </a:p>
          <a:p>
            <a:pPr algn="ctr">
              <a:spcBef>
                <a:spcPts val="1200"/>
              </a:spcBef>
            </a:pPr>
            <a:r>
              <a:rPr sz="1800">
                <a:solidFill>
                  <a:srgbClr val="EDE9FE"/>
                </a:solidFill>
              </a:rPr>
              <a:t>User Guide — Client Books and Payroll for Accounting Bureaus</a:t>
            </a:r>
          </a:p>
          <a:p>
            <a:pPr algn="ctr">
              <a:spcBef>
                <a:spcPts val="1200"/>
              </a:spcBef>
            </a:pPr>
            <a:r>
              <a:rPr sz="1800">
                <a:solidFill>
                  <a:srgbClr val="EDE9FE"/>
                </a:solidFill>
              </a:rPr>
              <a:t>Invoices, banking, ledger, VAT and Estonian payroll in one bureau workspace.</a:t>
            </a:r>
          </a:p>
          <a:p>
            <a:pPr algn="ctr">
              <a:spcBef>
                <a:spcPts val="1200"/>
              </a:spcBef>
            </a:pPr>
            <a:r>
              <a:rPr sz="1800">
                <a:solidFill>
                  <a:srgbClr val="EDE9FE"/>
                </a:solidFill>
              </a:rPr>
              <a:t>Worked example: Põhjatäht Teenused OÜ, Northstar Studio Ltd and Demo OÜ (sample payroll)</a:t>
            </a:r>
          </a:p>
          <a:p>
            <a:pPr algn="ctr">
              <a:spcBef>
                <a:spcPts val="1200"/>
              </a:spcBef>
            </a:pPr>
            <a:r>
              <a:rPr sz="1800">
                <a:solidFill>
                  <a:srgbClr val="EDE9FE"/>
                </a:solidFill>
              </a:rPr>
              <a:t>v0.3.0 · 9 October 2026 · Local demonstration edition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185855" cy="53035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64008"/>
          <a:lstStyle/>
          <a:p>
            <a:pPr algn="ctr"/>
            <a:r>
              <a:rPr sz="2100" b="1">
                <a:solidFill>
                  <a:srgbClr val="FFFFFF"/>
                </a:solidFill>
              </a:rPr>
              <a:t>Contents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438912"/>
            <a:ext cx="73152" cy="5303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111858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Screenshots come from a local instance seeded with synthetic demo books. Names, personal codes, IBANs and e-mail addresses are test data, not real people or companies. The FastHR import uses a mocked FastHR API.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92808"/>
          <a:ext cx="11185853" cy="4462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8322"/>
                <a:gridCol w="1789736"/>
                <a:gridCol w="6487795"/>
              </a:tblGrid>
              <a:tr h="637467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Section</a:t>
                      </a:r>
                    </a:p>
                  </a:txBody>
                  <a:tcPr marL="54864" marR="54864" marT="9144" marB="9144" anchor="ctr">
                    <a:solidFill>
                      <a:srgbClr val="5B21B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Pages / slides</a:t>
                      </a:r>
                    </a:p>
                  </a:txBody>
                  <a:tcPr marL="54864" marR="54864" marT="9144" marB="9144" anchor="ctr">
                    <a:solidFill>
                      <a:srgbClr val="5B21B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What you will do</a:t>
                      </a:r>
                    </a:p>
                  </a:txBody>
                  <a:tcPr marL="54864" marR="54864" marT="9144" marB="9144" anchor="ctr">
                    <a:solidFill>
                      <a:srgbClr val="5B21B6"/>
                    </a:solidFill>
                  </a:tcPr>
                </a:tc>
              </a:tr>
              <a:tr h="637467"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5B21B6"/>
                          </a:solidFill>
                        </a:rPr>
                        <a:t>01 · Get started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062B"/>
                          </a:solidFill>
                        </a:rPr>
                        <a:t>3–8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062B"/>
                          </a:solidFill>
                        </a:rPr>
                        <a:t>Sign in, read the bureau overview, switch between client books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637467"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5B21B6"/>
                          </a:solidFill>
                        </a:rPr>
                        <a:t>02 · Sales, purchases and automation</a:t>
                      </a:r>
                    </a:p>
                  </a:txBody>
                  <a:tcPr marL="54864" marR="54864" marT="9144" marB="9144" anchor="ctr">
                    <a:solidFill>
                      <a:srgbClr val="F3E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062B"/>
                          </a:solidFill>
                        </a:rPr>
                        <a:t>9–15</a:t>
                      </a:r>
                    </a:p>
                  </a:txBody>
                  <a:tcPr marL="54864" marR="54864" marT="9144" marB="9144" anchor="ctr">
                    <a:solidFill>
                      <a:srgbClr val="F3E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062B"/>
                          </a:solidFill>
                        </a:rPr>
                        <a:t>Invoices, bills, contacts, recurring invoices and reminders</a:t>
                      </a:r>
                    </a:p>
                  </a:txBody>
                  <a:tcPr marL="54864" marR="54864" marT="9144" marB="9144" anchor="ctr">
                    <a:solidFill>
                      <a:srgbClr val="F3E8FF"/>
                    </a:solidFill>
                  </a:tcPr>
                </a:tc>
              </a:tr>
              <a:tr h="637467"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5B21B6"/>
                          </a:solidFill>
                        </a:rPr>
                        <a:t>03 · Banking, accounting and tax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062B"/>
                          </a:solidFill>
                        </a:rPr>
                        <a:t>16–19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062B"/>
                          </a:solidFill>
                        </a:rPr>
                        <a:t>Reconcile the bank, read reports, prepare Estonian KMD workpapers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637467"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5B21B6"/>
                          </a:solidFill>
                        </a:rPr>
                        <a:t>04 · Payroll for accounting bureaus</a:t>
                      </a:r>
                    </a:p>
                  </a:txBody>
                  <a:tcPr marL="54864" marR="54864" marT="9144" marB="9144" anchor="ctr">
                    <a:solidFill>
                      <a:srgbClr val="F3E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062B"/>
                          </a:solidFill>
                        </a:rPr>
                        <a:t>20–29</a:t>
                      </a:r>
                    </a:p>
                  </a:txBody>
                  <a:tcPr marL="54864" marR="54864" marT="9144" marB="9144" anchor="ctr">
                    <a:solidFill>
                      <a:srgbClr val="F3E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062B"/>
                          </a:solidFill>
                        </a:rPr>
                        <a:t>Part-time, hourly and board pay, social tax minimum, pay runs, payslips</a:t>
                      </a:r>
                    </a:p>
                  </a:txBody>
                  <a:tcPr marL="54864" marR="54864" marT="9144" marB="9144" anchor="ctr">
                    <a:solidFill>
                      <a:srgbClr val="F3E8FF"/>
                    </a:solidFill>
                  </a:tcPr>
                </a:tc>
              </a:tr>
              <a:tr h="637467"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5B21B6"/>
                          </a:solidFill>
                        </a:rPr>
                        <a:t>05 · Integrations and HR import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062B"/>
                          </a:solidFill>
                        </a:rPr>
                        <a:t>30–37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062B"/>
                          </a:solidFill>
                        </a:rPr>
                        <a:t>Connect FastHR or import a CSV, and review employees before payroll changes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637470"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5B21B6"/>
                          </a:solidFill>
                        </a:rPr>
                        <a:t>06 · Reference</a:t>
                      </a:r>
                    </a:p>
                  </a:txBody>
                  <a:tcPr marL="54864" marR="54864" marT="9144" marB="9144" anchor="ctr">
                    <a:solidFill>
                      <a:srgbClr val="F3E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062B"/>
                          </a:solidFill>
                        </a:rPr>
                        <a:t>38–40</a:t>
                      </a:r>
                    </a:p>
                  </a:txBody>
                  <a:tcPr marL="54864" marR="54864" marT="9144" marB="9144" anchor="ctr">
                    <a:solidFill>
                      <a:srgbClr val="F3E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062B"/>
                          </a:solidFill>
                        </a:rPr>
                        <a:t>2026 Estonian rates, exemptions, languages and limits</a:t>
                      </a:r>
                    </a:p>
                  </a:txBody>
                  <a:tcPr marL="54864" marR="54864" marT="9144" marB="9144" anchor="ctr">
                    <a:solidFill>
                      <a:srgbClr val="F3E8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6473952"/>
            <a:ext cx="1146017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78"/>
                </a:solidFill>
              </a:rPr>
              <a:t>FastAccounts · User guide · v0.3.0 · 2026-10-09 · fastaccounts.org ·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185855" cy="5943600"/>
          </a:xfrm>
          <a:prstGeom prst="rect">
            <a:avLst/>
          </a:prstGeom>
          <a:solidFill>
            <a:srgbClr val="140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38912"/>
            <a:ext cx="73152" cy="59436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114300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EDE9FE"/>
                </a:solidFill>
              </a:rPr>
              <a:t>SECTION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874519"/>
            <a:ext cx="1018001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</a:rPr>
              <a:t>Get started</a:t>
            </a:r>
          </a:p>
          <a:p>
            <a:pPr>
              <a:spcBef>
                <a:spcPts val="1600"/>
              </a:spcBef>
            </a:pPr>
            <a:r>
              <a:rPr sz="1800">
                <a:solidFill>
                  <a:srgbClr val="EDE9FE"/>
                </a:solidFill>
              </a:rPr>
              <a:t>One workspace for every client: switch books from the sidebar, keep each client's ledger separate, and work in English or Estonian.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73952"/>
            <a:ext cx="1146017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78"/>
                </a:solidFill>
              </a:rPr>
              <a:t>FastAccounts · User guide · v0.3.0 · 2026-10-09 · fastaccounts.org ·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185855" cy="53035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64008"/>
          <a:lstStyle/>
          <a:p>
            <a:pPr algn="ctr"/>
            <a:r>
              <a:rPr sz="2100" b="1">
                <a:solidFill>
                  <a:srgbClr val="FFFFFF"/>
                </a:solidFill>
              </a:rPr>
              <a:t>The public site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438912"/>
            <a:ext cx="73152" cy="5303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57607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5B21B6"/>
                </a:solidFill>
              </a:rPr>
              <a:t>fastaccounts.org</a:t>
            </a:r>
            <a:r>
              <a:rPr sz="1400">
                <a:solidFill>
                  <a:srgbClr val="14062B"/>
                </a:solidFill>
              </a:rPr>
              <a:t> introduces the product for UK and Estonian books.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</a:t>
            </a:r>
            <a:r>
              <a:rPr b="1" sz="1400">
                <a:solidFill>
                  <a:srgbClr val="5B21B6"/>
                </a:solidFill>
              </a:rPr>
              <a:t>Get started</a:t>
            </a:r>
            <a:r>
              <a:rPr sz="1400">
                <a:solidFill>
                  <a:srgbClr val="14062B"/>
                </a:solidFill>
              </a:rPr>
              <a:t> and </a:t>
            </a:r>
            <a:r>
              <a:rPr b="1" sz="1400">
                <a:solidFill>
                  <a:srgbClr val="5B21B6"/>
                </a:solidFill>
              </a:rPr>
              <a:t>Sign in</a:t>
            </a:r>
            <a:r>
              <a:rPr sz="1400">
                <a:solidFill>
                  <a:srgbClr val="14062B"/>
                </a:solidFill>
              </a:rPr>
              <a:t> lead to the workspace.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</a:t>
            </a:r>
            <a:r>
              <a:rPr b="1" sz="1400">
                <a:solidFill>
                  <a:srgbClr val="5B21B6"/>
                </a:solidFill>
              </a:rPr>
              <a:t>Integrations</a:t>
            </a:r>
            <a:r>
              <a:rPr sz="1400">
                <a:solidFill>
                  <a:srgbClr val="14062B"/>
                </a:solidFill>
              </a:rPr>
              <a:t> lists every connector with its real status.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</a:t>
            </a:r>
            <a:r>
              <a:rPr b="1" sz="1400">
                <a:solidFill>
                  <a:srgbClr val="5B21B6"/>
                </a:solidFill>
              </a:rPr>
              <a:t>Pricing</a:t>
            </a:r>
            <a:r>
              <a:rPr sz="1400">
                <a:solidFill>
                  <a:srgbClr val="14062B"/>
                </a:solidFill>
              </a:rPr>
              <a:t>, </a:t>
            </a:r>
            <a:r>
              <a:rPr b="1" sz="1400">
                <a:solidFill>
                  <a:srgbClr val="5B21B6"/>
                </a:solidFill>
              </a:rPr>
              <a:t>Why FastAccounts</a:t>
            </a:r>
            <a:r>
              <a:rPr sz="1400">
                <a:solidFill>
                  <a:srgbClr val="14062B"/>
                </a:solidFill>
              </a:rPr>
              <a:t>, </a:t>
            </a:r>
            <a:r>
              <a:rPr b="1" sz="1400">
                <a:solidFill>
                  <a:srgbClr val="5B21B6"/>
                </a:solidFill>
              </a:rPr>
              <a:t>For accounting bureaus</a:t>
            </a:r>
            <a:r>
              <a:rPr sz="1400">
                <a:solidFill>
                  <a:srgbClr val="14062B"/>
                </a:solidFill>
              </a:rPr>
              <a:t> and </a:t>
            </a:r>
            <a:r>
              <a:rPr b="1" sz="1400">
                <a:solidFill>
                  <a:srgbClr val="5B21B6"/>
                </a:solidFill>
              </a:rPr>
              <a:t>Roadmap</a:t>
            </a:r>
            <a:r>
              <a:rPr sz="1400">
                <a:solidFill>
                  <a:srgbClr val="14062B"/>
                </a:solidFill>
              </a:rPr>
              <a:t> explain the offer.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Switch the language with the language button (GB / EE) in the top bar; the choice is remembered.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The version link in the footer opens </a:t>
            </a:r>
            <a:r>
              <a:rPr sz="1400">
                <a:solidFill>
                  <a:srgbClr val="5B21B6"/>
                </a:solidFill>
                <a:latin typeface="Consolas"/>
              </a:rPr>
              <a:t>/healthz</a:t>
            </a:r>
            <a:r>
              <a:rPr sz="1400">
                <a:solidFill>
                  <a:srgbClr val="14062B"/>
                </a:solidFill>
              </a:rPr>
              <a:t>, which shows the running release and database status.</a:t>
            </a:r>
          </a:p>
        </p:txBody>
      </p:sp>
      <p:pic>
        <p:nvPicPr>
          <p:cNvPr id="5" name="Picture 4" descr="01-public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280160"/>
            <a:ext cx="5212080" cy="3619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73952"/>
            <a:ext cx="1146017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78"/>
                </a:solidFill>
              </a:rPr>
              <a:t>FastAccounts · User guide · v0.3.0 · 2026-10-09 · fastaccounts.org ·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185855" cy="53035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64008"/>
          <a:lstStyle/>
          <a:p>
            <a:pPr algn="ctr"/>
            <a:r>
              <a:rPr sz="2100" b="1">
                <a:solidFill>
                  <a:srgbClr val="FFFFFF"/>
                </a:solidFill>
              </a:rPr>
              <a:t>Sign in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438912"/>
            <a:ext cx="73152" cy="5303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57607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Open </a:t>
            </a:r>
            <a:r>
              <a:rPr b="1" sz="1400">
                <a:solidFill>
                  <a:srgbClr val="5B21B6"/>
                </a:solidFill>
              </a:rPr>
              <a:t>Sign in</a:t>
            </a:r>
            <a:r>
              <a:rPr sz="1400">
                <a:solidFill>
                  <a:srgbClr val="14062B"/>
                </a:solidFill>
              </a:rPr>
              <a:t> and choose </a:t>
            </a:r>
            <a:r>
              <a:rPr b="1" sz="1400">
                <a:solidFill>
                  <a:srgbClr val="5B21B6"/>
                </a:solidFill>
              </a:rPr>
              <a:t>Continue with Google</a:t>
            </a:r>
            <a:r>
              <a:rPr sz="1400">
                <a:solidFill>
                  <a:srgbClr val="14062B"/>
                </a:solidFill>
              </a:rPr>
              <a:t>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Use the Google account your bureau has approved.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The workspace opens on the </a:t>
            </a:r>
            <a:r>
              <a:rPr b="1" sz="1400">
                <a:solidFill>
                  <a:srgbClr val="5B21B6"/>
                </a:solidFill>
              </a:rPr>
              <a:t>Overview</a:t>
            </a:r>
            <a:r>
              <a:rPr sz="1400">
                <a:solidFill>
                  <a:srgbClr val="14062B"/>
                </a:solidFill>
              </a:rPr>
              <a:t>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Open self-registration is intentionally disabled. The local demonstration shown here has no Google credentials configured, so the button reports that; production uses Google sign-in.</a:t>
            </a:r>
          </a:p>
        </p:txBody>
      </p:sp>
      <p:pic>
        <p:nvPicPr>
          <p:cNvPr id="5" name="Picture 4" descr="02-sign-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280160"/>
            <a:ext cx="5212080" cy="3619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73952"/>
            <a:ext cx="1146017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78"/>
                </a:solidFill>
              </a:rPr>
              <a:t>FastAccounts · User guide · v0.3.0 · 2026-10-09 · fastaccounts.org ·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185855" cy="53035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64008"/>
          <a:lstStyle/>
          <a:p>
            <a:pPr algn="ctr"/>
            <a:r>
              <a:rPr sz="2100" b="1">
                <a:solidFill>
                  <a:srgbClr val="FFFFFF"/>
                </a:solidFill>
              </a:rPr>
              <a:t>Bureau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438912"/>
            <a:ext cx="73152" cy="5303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57607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5B21B6"/>
                </a:solidFill>
              </a:rPr>
              <a:t>Overview</a:t>
            </a:r>
            <a:r>
              <a:rPr sz="1400">
                <a:solidFill>
                  <a:srgbClr val="14062B"/>
                </a:solidFill>
              </a:rPr>
              <a:t> summarises the selected client's books: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</a:t>
            </a:r>
            <a:r>
              <a:rPr b="1" sz="1400">
                <a:solidFill>
                  <a:srgbClr val="5B21B6"/>
                </a:solidFill>
              </a:rPr>
              <a:t>Receivables</a:t>
            </a:r>
            <a:r>
              <a:rPr sz="1400">
                <a:solidFill>
                  <a:srgbClr val="14062B"/>
                </a:solidFill>
              </a:rPr>
              <a:t> and </a:t>
            </a:r>
            <a:r>
              <a:rPr b="1" sz="1400">
                <a:solidFill>
                  <a:srgbClr val="5B21B6"/>
                </a:solidFill>
              </a:rPr>
              <a:t>Payables</a:t>
            </a:r>
            <a:r>
              <a:rPr sz="1400">
                <a:solidFill>
                  <a:srgbClr val="14062B"/>
                </a:solidFill>
              </a:rPr>
              <a:t> — open customer invoices and approved bills.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</a:t>
            </a:r>
            <a:r>
              <a:rPr b="1" sz="1400">
                <a:solidFill>
                  <a:srgbClr val="5B21B6"/>
                </a:solidFill>
              </a:rPr>
              <a:t>Bank review</a:t>
            </a:r>
            <a:r>
              <a:rPr sz="1400">
                <a:solidFill>
                  <a:srgbClr val="14062B"/>
                </a:solidFill>
              </a:rPr>
              <a:t> — bank lines still waiting for a match.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</a:t>
            </a:r>
            <a:r>
              <a:rPr b="1" sz="1400">
                <a:solidFill>
                  <a:srgbClr val="5B21B6"/>
                </a:solidFill>
              </a:rPr>
              <a:t>Payroll this month</a:t>
            </a:r>
            <a:r>
              <a:rPr sz="1400">
                <a:solidFill>
                  <a:srgbClr val="14062B"/>
                </a:solidFill>
              </a:rPr>
              <a:t> — employer cost of draft and approved pay runs.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5B21B6"/>
                </a:solidFill>
              </a:rPr>
              <a:t>Client books</a:t>
            </a:r>
            <a:r>
              <a:rPr sz="1400">
                <a:solidFill>
                  <a:srgbClr val="14062B"/>
                </a:solidFill>
              </a:rPr>
              <a:t> lists every organisation you can access, with receivables per client. The chart compares invoiced revenue with net bank movement for the last six months. </a:t>
            </a:r>
            <a:r>
              <a:rPr b="1" sz="1400">
                <a:solidFill>
                  <a:srgbClr val="5B21B6"/>
                </a:solidFill>
              </a:rPr>
              <a:t>New invoice</a:t>
            </a:r>
            <a:r>
              <a:rPr sz="1400">
                <a:solidFill>
                  <a:srgbClr val="14062B"/>
                </a:solidFill>
              </a:rPr>
              <a:t> starts a sales invoice straight away.</a:t>
            </a:r>
          </a:p>
        </p:txBody>
      </p:sp>
      <p:pic>
        <p:nvPicPr>
          <p:cNvPr id="5" name="Picture 4" descr="03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280160"/>
            <a:ext cx="5212080" cy="3619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73952"/>
            <a:ext cx="1146017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78"/>
                </a:solidFill>
              </a:rPr>
              <a:t>FastAccounts · User guide · v0.3.0 · 2026-10-09 · fastaccounts.org ·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185855" cy="53035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64008"/>
          <a:lstStyle/>
          <a:p>
            <a:pPr algn="ctr"/>
            <a:r>
              <a:rPr sz="2100" b="1">
                <a:solidFill>
                  <a:srgbClr val="FFFFFF"/>
                </a:solidFill>
              </a:rPr>
              <a:t>Switch between clients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438912"/>
            <a:ext cx="73152" cy="5303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57607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Each client is a separate organisation with its own chart of accounts, documents, bank accounts, payroll and integrations.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Click the organisation card at the top of the sidebar.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Pick a client; the country badge (EE / UK) shows its rule set.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</a:t>
            </a:r>
            <a:r>
              <a:rPr b="1" sz="1400">
                <a:solidFill>
                  <a:srgbClr val="5B21B6"/>
                </a:solidFill>
              </a:rPr>
              <a:t>Create organisation</a:t>
            </a:r>
            <a:r>
              <a:rPr sz="1400">
                <a:solidFill>
                  <a:srgbClr val="14062B"/>
                </a:solidFill>
              </a:rPr>
              <a:t> adds a new client's books.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Payroll is enabled only for Estonian organisations with EUR books; for other clients the </a:t>
            </a:r>
            <a:r>
              <a:rPr b="1" sz="1400">
                <a:solidFill>
                  <a:srgbClr val="5B21B6"/>
                </a:solidFill>
              </a:rPr>
              <a:t>Payroll</a:t>
            </a:r>
            <a:r>
              <a:rPr sz="1400">
                <a:solidFill>
                  <a:srgbClr val="14062B"/>
                </a:solidFill>
              </a:rPr>
              <a:t> menu item is greyed out with an explanation.</a:t>
            </a:r>
          </a:p>
        </p:txBody>
      </p:sp>
      <p:pic>
        <p:nvPicPr>
          <p:cNvPr id="5" name="Picture 4" descr="04-organisation-switch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280160"/>
            <a:ext cx="5212080" cy="3619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73952"/>
            <a:ext cx="1146017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78"/>
                </a:solidFill>
              </a:rPr>
              <a:t>FastAccounts · User guide · v0.3.0 · 2026-10-09 · fastaccounts.org ·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185855" cy="53035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64008"/>
          <a:lstStyle/>
          <a:p>
            <a:pPr algn="ctr"/>
            <a:r>
              <a:rPr sz="2100" b="1">
                <a:solidFill>
                  <a:srgbClr val="FFFFFF"/>
                </a:solidFill>
              </a:rPr>
              <a:t>Workspace language and version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438912"/>
            <a:ext cx="73152" cy="5303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57607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</a:t>
            </a:r>
            <a:r>
              <a:rPr b="1" sz="1400">
                <a:solidFill>
                  <a:srgbClr val="5B21B6"/>
                </a:solidFill>
              </a:rPr>
              <a:t>English / Eesti</a:t>
            </a:r>
            <a:r>
              <a:rPr sz="1400">
                <a:solidFill>
                  <a:srgbClr val="14062B"/>
                </a:solidFill>
              </a:rPr>
              <a:t> in the top bar switches every label, message and error. Your choice is kept for the next visit. Estonian payslips are always in Estonian.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The version chip under the logo (</a:t>
            </a:r>
            <a:r>
              <a:rPr sz="1400">
                <a:solidFill>
                  <a:srgbClr val="5B21B6"/>
                </a:solidFill>
                <a:latin typeface="Consolas"/>
              </a:rPr>
              <a:t>v0.3.0 · 2026-10-09</a:t>
            </a:r>
            <a:r>
              <a:rPr sz="1400">
                <a:solidFill>
                  <a:srgbClr val="14062B"/>
                </a:solidFill>
              </a:rPr>
              <a:t>) shows the release you are using; click it to open the health check.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</a:t>
            </a:r>
            <a:r>
              <a:rPr b="1" sz="1400">
                <a:solidFill>
                  <a:srgbClr val="5B21B6"/>
                </a:solidFill>
              </a:rPr>
              <a:t>Public site</a:t>
            </a:r>
            <a:r>
              <a:rPr sz="1400">
                <a:solidFill>
                  <a:srgbClr val="14062B"/>
                </a:solidFill>
              </a:rPr>
              <a:t> and </a:t>
            </a:r>
            <a:r>
              <a:rPr b="1" sz="1400">
                <a:solidFill>
                  <a:srgbClr val="5B21B6"/>
                </a:solidFill>
              </a:rPr>
              <a:t>Sign out</a:t>
            </a:r>
            <a:r>
              <a:rPr sz="1400">
                <a:solidFill>
                  <a:srgbClr val="14062B"/>
                </a:solidFill>
              </a:rPr>
              <a:t> are at the bottom of the sidebar.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On narrow screens the sidebar folds into the </a:t>
            </a:r>
            <a:r>
              <a:rPr b="1" sz="1400">
                <a:solidFill>
                  <a:srgbClr val="5B21B6"/>
                </a:solidFill>
              </a:rPr>
              <a:t>☰</a:t>
            </a:r>
            <a:r>
              <a:rPr sz="1400">
                <a:solidFill>
                  <a:srgbClr val="14062B"/>
                </a:solidFill>
              </a:rPr>
              <a:t> menu.</a:t>
            </a:r>
          </a:p>
        </p:txBody>
      </p:sp>
      <p:pic>
        <p:nvPicPr>
          <p:cNvPr id="5" name="Picture 4" descr="03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280160"/>
            <a:ext cx="5212080" cy="3619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73952"/>
            <a:ext cx="1146017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78"/>
                </a:solidFill>
              </a:rPr>
              <a:t>FastAccounts · User guide · v0.3.0 · 2026-10-09 · fastaccounts.org ·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185855" cy="5943600"/>
          </a:xfrm>
          <a:prstGeom prst="rect">
            <a:avLst/>
          </a:prstGeom>
          <a:solidFill>
            <a:srgbClr val="140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38912"/>
            <a:ext cx="73152" cy="59436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114300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EDE9FE"/>
                </a:solidFill>
              </a:rPr>
              <a:t>SECTION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874519"/>
            <a:ext cx="1018001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</a:rPr>
              <a:t>Sales, purchases and automation</a:t>
            </a:r>
          </a:p>
          <a:p>
            <a:pPr>
              <a:spcBef>
                <a:spcPts val="1600"/>
              </a:spcBef>
            </a:pPr>
            <a:r>
              <a:rPr sz="1800">
                <a:solidFill>
                  <a:srgbClr val="EDE9FE"/>
                </a:solidFill>
              </a:rPr>
              <a:t>Issue invoices, review supplier bills and let recurring invoices and the reminder ladder do the routine work.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73952"/>
            <a:ext cx="1146017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78"/>
                </a:solidFill>
              </a:rPr>
              <a:t>FastAccounts · User guide · v0.3.0 · 2026-10-09 · fastaccounts.org ·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185855" cy="53035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64008"/>
          <a:lstStyle/>
          <a:p>
            <a:pPr algn="ctr"/>
            <a:r>
              <a:rPr sz="2100" b="1">
                <a:solidFill>
                  <a:srgbClr val="FFFFFF"/>
                </a:solidFill>
              </a:rPr>
              <a:t>Sales invoices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438912"/>
            <a:ext cx="73152" cy="5303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57607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5B21B6"/>
                </a:solidFill>
              </a:rPr>
              <a:t>Invoices</a:t>
            </a:r>
            <a:r>
              <a:rPr sz="1400">
                <a:solidFill>
                  <a:srgbClr val="14062B"/>
                </a:solidFill>
              </a:rPr>
              <a:t> shows every sales invoice with its status: </a:t>
            </a:r>
            <a:r>
              <a:rPr b="1" sz="1400">
                <a:solidFill>
                  <a:srgbClr val="5B21B6"/>
                </a:solidFill>
              </a:rPr>
              <a:t>Draft</a:t>
            </a:r>
            <a:r>
              <a:rPr sz="1400">
                <a:solidFill>
                  <a:srgbClr val="14062B"/>
                </a:solidFill>
              </a:rPr>
              <a:t>, </a:t>
            </a:r>
            <a:r>
              <a:rPr b="1" sz="1400">
                <a:solidFill>
                  <a:srgbClr val="5B21B6"/>
                </a:solidFill>
              </a:rPr>
              <a:t>Issued</a:t>
            </a:r>
            <a:r>
              <a:rPr sz="1400">
                <a:solidFill>
                  <a:srgbClr val="14062B"/>
                </a:solidFill>
              </a:rPr>
              <a:t>, </a:t>
            </a:r>
            <a:r>
              <a:rPr b="1" sz="1400">
                <a:solidFill>
                  <a:srgbClr val="5B21B6"/>
                </a:solidFill>
              </a:rPr>
              <a:t>Part paid</a:t>
            </a:r>
            <a:r>
              <a:rPr sz="1400">
                <a:solidFill>
                  <a:srgbClr val="14062B"/>
                </a:solidFill>
              </a:rPr>
              <a:t>, </a:t>
            </a:r>
            <a:r>
              <a:rPr b="1" sz="1400">
                <a:solidFill>
                  <a:srgbClr val="5B21B6"/>
                </a:solidFill>
              </a:rPr>
              <a:t>Paid</a:t>
            </a:r>
            <a:r>
              <a:rPr sz="1400">
                <a:solidFill>
                  <a:srgbClr val="14062B"/>
                </a:solidFill>
              </a:rPr>
              <a:t> or </a:t>
            </a:r>
            <a:r>
              <a:rPr b="1" sz="1400">
                <a:solidFill>
                  <a:srgbClr val="5B21B6"/>
                </a:solidFill>
              </a:rPr>
              <a:t>Overdue</a:t>
            </a:r>
            <a:r>
              <a:rPr sz="1400">
                <a:solidFill>
                  <a:srgbClr val="14062B"/>
                </a:solidFill>
              </a:rPr>
              <a:t>. Filter with the tabs above the list.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</a:t>
            </a:r>
            <a:r>
              <a:rPr b="1" sz="1400">
                <a:solidFill>
                  <a:srgbClr val="5B21B6"/>
                </a:solidFill>
              </a:rPr>
              <a:t>PDF</a:t>
            </a:r>
            <a:r>
              <a:rPr sz="1400">
                <a:solidFill>
                  <a:srgbClr val="14062B"/>
                </a:solidFill>
              </a:rPr>
              <a:t> downloads the invoice; </a:t>
            </a:r>
            <a:r>
              <a:rPr b="1" sz="1400">
                <a:solidFill>
                  <a:srgbClr val="5B21B6"/>
                </a:solidFill>
              </a:rPr>
              <a:t>XML</a:t>
            </a:r>
            <a:r>
              <a:rPr sz="1400">
                <a:solidFill>
                  <a:srgbClr val="14062B"/>
                </a:solidFill>
              </a:rPr>
              <a:t> downloads it as structured XML.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Open a draft to edit, issue or delete it. Issued invoices are immutable and are posted to the ledger.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</a:t>
            </a:r>
            <a:r>
              <a:rPr b="1" sz="1400">
                <a:solidFill>
                  <a:srgbClr val="5B21B6"/>
                </a:solidFill>
              </a:rPr>
              <a:t>New contact</a:t>
            </a:r>
            <a:r>
              <a:rPr sz="1400">
                <a:solidFill>
                  <a:srgbClr val="14062B"/>
                </a:solidFill>
              </a:rPr>
              <a:t> adds a customer without leaving the page.</a:t>
            </a:r>
          </a:p>
        </p:txBody>
      </p:sp>
      <p:pic>
        <p:nvPicPr>
          <p:cNvPr id="5" name="Picture 4" descr="05-invo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280160"/>
            <a:ext cx="5212080" cy="3619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73952"/>
            <a:ext cx="1146017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78"/>
                </a:solidFill>
              </a:rPr>
              <a:t>FastAccounts · User guide · v0.3.0 · 2026-10-09 · fastaccounts.org ·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185855" cy="53035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64008"/>
          <a:lstStyle/>
          <a:p>
            <a:pPr algn="ctr"/>
            <a:r>
              <a:rPr sz="2100" b="1">
                <a:solidFill>
                  <a:srgbClr val="FFFFFF"/>
                </a:solidFill>
              </a:rPr>
              <a:t>Create an invoice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438912"/>
            <a:ext cx="73152" cy="5303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57607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Click </a:t>
            </a:r>
            <a:r>
              <a:rPr b="1" sz="1400">
                <a:solidFill>
                  <a:srgbClr val="5B21B6"/>
                </a:solidFill>
              </a:rPr>
              <a:t>New invoice</a:t>
            </a:r>
            <a:r>
              <a:rPr sz="1400">
                <a:solidFill>
                  <a:srgbClr val="14062B"/>
                </a:solidFill>
              </a:rPr>
              <a:t>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Choose the </a:t>
            </a:r>
            <a:r>
              <a:rPr b="1" sz="1400">
                <a:solidFill>
                  <a:srgbClr val="5B21B6"/>
                </a:solidFill>
              </a:rPr>
              <a:t>Customer</a:t>
            </a:r>
            <a:r>
              <a:rPr sz="1400">
                <a:solidFill>
                  <a:srgbClr val="14062B"/>
                </a:solidFill>
              </a:rPr>
              <a:t>, </a:t>
            </a:r>
            <a:r>
              <a:rPr b="1" sz="1400">
                <a:solidFill>
                  <a:srgbClr val="5B21B6"/>
                </a:solidFill>
              </a:rPr>
              <a:t>Issue date</a:t>
            </a:r>
            <a:r>
              <a:rPr sz="1400">
                <a:solidFill>
                  <a:srgbClr val="14062B"/>
                </a:solidFill>
              </a:rPr>
              <a:t> and </a:t>
            </a:r>
            <a:r>
              <a:rPr b="1" sz="1400">
                <a:solidFill>
                  <a:srgbClr val="5B21B6"/>
                </a:solidFill>
              </a:rPr>
              <a:t>Due date</a:t>
            </a:r>
            <a:r>
              <a:rPr sz="1400">
                <a:solidFill>
                  <a:srgbClr val="14062B"/>
                </a:solidFill>
              </a:rPr>
              <a:t>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Enter the </a:t>
            </a:r>
            <a:r>
              <a:rPr b="1" sz="1400">
                <a:solidFill>
                  <a:srgbClr val="5B21B6"/>
                </a:solidFill>
              </a:rPr>
              <a:t>Description</a:t>
            </a:r>
            <a:r>
              <a:rPr sz="1400">
                <a:solidFill>
                  <a:srgbClr val="14062B"/>
                </a:solidFill>
              </a:rPr>
              <a:t>, </a:t>
            </a:r>
            <a:r>
              <a:rPr b="1" sz="1400">
                <a:solidFill>
                  <a:srgbClr val="5B21B6"/>
                </a:solidFill>
              </a:rPr>
              <a:t>Quantity</a:t>
            </a:r>
            <a:r>
              <a:rPr sz="1400">
                <a:solidFill>
                  <a:srgbClr val="14062B"/>
                </a:solidFill>
              </a:rPr>
              <a:t> and </a:t>
            </a:r>
            <a:r>
              <a:rPr b="1" sz="1400">
                <a:solidFill>
                  <a:srgbClr val="5B21B6"/>
                </a:solidFill>
              </a:rPr>
              <a:t>Unit price</a:t>
            </a:r>
            <a:r>
              <a:rPr sz="1400">
                <a:solidFill>
                  <a:srgbClr val="14062B"/>
                </a:solidFill>
              </a:rPr>
              <a:t>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Pick the </a:t>
            </a:r>
            <a:r>
              <a:rPr b="1" sz="1400">
                <a:solidFill>
                  <a:srgbClr val="5B21B6"/>
                </a:solidFill>
              </a:rPr>
              <a:t>Income account</a:t>
            </a:r>
            <a:r>
              <a:rPr sz="1400">
                <a:solidFill>
                  <a:srgbClr val="14062B"/>
                </a:solidFill>
              </a:rPr>
              <a:t> and </a:t>
            </a:r>
            <a:r>
              <a:rPr b="1" sz="1400">
                <a:solidFill>
                  <a:srgbClr val="5B21B6"/>
                </a:solidFill>
              </a:rPr>
              <a:t>Tax code</a:t>
            </a:r>
            <a:r>
              <a:rPr sz="1400">
                <a:solidFill>
                  <a:srgbClr val="14062B"/>
                </a:solidFill>
              </a:rPr>
              <a:t> (for example EE24 – 24%).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</a:t>
            </a:r>
            <a:r>
              <a:rPr b="1" sz="1400">
                <a:solidFill>
                  <a:srgbClr val="5B21B6"/>
                </a:solidFill>
              </a:rPr>
              <a:t>Create draft</a:t>
            </a:r>
            <a:r>
              <a:rPr sz="1400">
                <a:solidFill>
                  <a:srgbClr val="14062B"/>
                </a:solidFill>
              </a:rPr>
              <a:t>, review it, then </a:t>
            </a:r>
            <a:r>
              <a:rPr b="1" sz="1400">
                <a:solidFill>
                  <a:srgbClr val="5B21B6"/>
                </a:solidFill>
              </a:rPr>
              <a:t>Issue</a:t>
            </a:r>
            <a:r>
              <a:rPr sz="1400">
                <a:solidFill>
                  <a:srgbClr val="14062B"/>
                </a:solidFill>
              </a:rPr>
              <a:t>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VAT is calculated per line with exact decimals and posted to the client's VAT accounts when the invoice is issued.</a:t>
            </a:r>
          </a:p>
        </p:txBody>
      </p:sp>
      <p:pic>
        <p:nvPicPr>
          <p:cNvPr id="5" name="Picture 4" descr="06-new-invo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280160"/>
            <a:ext cx="5212080" cy="3619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73952"/>
            <a:ext cx="1146017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78"/>
                </a:solidFill>
              </a:rPr>
              <a:t>FastAccounts · User guide · v0.3.0 · 2026-10-09 · fastaccounts.org ·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185855" cy="53035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64008"/>
          <a:lstStyle/>
          <a:p>
            <a:pPr algn="ctr"/>
            <a:r>
              <a:rPr sz="2100" b="1">
                <a:solidFill>
                  <a:srgbClr val="FFFFFF"/>
                </a:solidFill>
              </a:rPr>
              <a:t>Supplier bills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438912"/>
            <a:ext cx="73152" cy="5303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57607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5B21B6"/>
                </a:solidFill>
              </a:rPr>
              <a:t>Bills</a:t>
            </a:r>
            <a:r>
              <a:rPr sz="1400">
                <a:solidFill>
                  <a:srgbClr val="14062B"/>
                </a:solidFill>
              </a:rPr>
              <a:t> holds supplier documents before they reach the ledger.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Statuses run </a:t>
            </a:r>
            <a:r>
              <a:rPr b="1" sz="1400">
                <a:solidFill>
                  <a:srgbClr val="5B21B6"/>
                </a:solidFill>
              </a:rPr>
              <a:t>In review → Approved → Part paid → Paid</a:t>
            </a:r>
            <a:r>
              <a:rPr sz="1400">
                <a:solidFill>
                  <a:srgbClr val="14062B"/>
                </a:solidFill>
              </a:rPr>
              <a:t>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</a:t>
            </a:r>
            <a:r>
              <a:rPr b="1" sz="1400">
                <a:solidFill>
                  <a:srgbClr val="5B21B6"/>
                </a:solidFill>
              </a:rPr>
              <a:t>Approve</a:t>
            </a:r>
            <a:r>
              <a:rPr sz="1400">
                <a:solidFill>
                  <a:srgbClr val="14062B"/>
                </a:solidFill>
              </a:rPr>
              <a:t> posts the bill; nothing is posted while it is in review.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</a:t>
            </a:r>
            <a:r>
              <a:rPr b="1" sz="1400">
                <a:solidFill>
                  <a:srgbClr val="5B21B6"/>
                </a:solidFill>
              </a:rPr>
              <a:t>New bill</a:t>
            </a:r>
            <a:r>
              <a:rPr sz="1400">
                <a:solidFill>
                  <a:srgbClr val="14062B"/>
                </a:solidFill>
              </a:rPr>
              <a:t> and </a:t>
            </a:r>
            <a:r>
              <a:rPr b="1" sz="1400">
                <a:solidFill>
                  <a:srgbClr val="5B21B6"/>
                </a:solidFill>
              </a:rPr>
              <a:t>New supplier</a:t>
            </a:r>
            <a:r>
              <a:rPr sz="1400">
                <a:solidFill>
                  <a:srgbClr val="14062B"/>
                </a:solidFill>
              </a:rPr>
              <a:t> add documents and counterparties.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Use the review step for anything an accountant must check first, such as reverse-charge or non-deductible VAT.</a:t>
            </a:r>
          </a:p>
        </p:txBody>
      </p:sp>
      <p:pic>
        <p:nvPicPr>
          <p:cNvPr id="5" name="Picture 4" descr="07-bil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280160"/>
            <a:ext cx="5212080" cy="3619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73952"/>
            <a:ext cx="1146017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78"/>
                </a:solidFill>
              </a:rPr>
              <a:t>FastAccounts · User guide · v0.3.0 · 2026-10-09 · fastaccounts.org ·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185855" cy="53035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64008"/>
          <a:lstStyle/>
          <a:p>
            <a:pPr algn="ctr"/>
            <a:r>
              <a:rPr sz="2100" b="1">
                <a:solidFill>
                  <a:srgbClr val="FFFFFF"/>
                </a:solidFill>
              </a:rPr>
              <a:t>Contacts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438912"/>
            <a:ext cx="73152" cy="5303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57607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5B21B6"/>
                </a:solidFill>
              </a:rPr>
              <a:t>Contacts</a:t>
            </a:r>
            <a:r>
              <a:rPr sz="1400">
                <a:solidFill>
                  <a:srgbClr val="14062B"/>
                </a:solidFill>
              </a:rPr>
              <a:t> keeps customers and suppliers per client, with type, e-mail, country and VAT number. Filter by </a:t>
            </a:r>
            <a:r>
              <a:rPr b="1" sz="1400">
                <a:solidFill>
                  <a:srgbClr val="5B21B6"/>
                </a:solidFill>
              </a:rPr>
              <a:t>customer</a:t>
            </a:r>
            <a:r>
              <a:rPr sz="1400">
                <a:solidFill>
                  <a:srgbClr val="14062B"/>
                </a:solidFill>
              </a:rPr>
              <a:t>, </a:t>
            </a:r>
            <a:r>
              <a:rPr b="1" sz="1400">
                <a:solidFill>
                  <a:srgbClr val="5B21B6"/>
                </a:solidFill>
              </a:rPr>
              <a:t>supplier</a:t>
            </a:r>
            <a:r>
              <a:rPr sz="1400">
                <a:solidFill>
                  <a:srgbClr val="14062B"/>
                </a:solidFill>
              </a:rPr>
              <a:t> or </a:t>
            </a:r>
            <a:r>
              <a:rPr b="1" sz="1400">
                <a:solidFill>
                  <a:srgbClr val="5B21B6"/>
                </a:solidFill>
              </a:rPr>
              <a:t>both</a:t>
            </a:r>
            <a:r>
              <a:rPr sz="1400">
                <a:solidFill>
                  <a:srgbClr val="14062B"/>
                </a:solidFill>
              </a:rPr>
              <a:t>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Contacts are reused by invoices, bills, bank matching and recurring schedules, so keep e-mail addresses current: payment reminders go there.</a:t>
            </a:r>
          </a:p>
        </p:txBody>
      </p:sp>
      <p:pic>
        <p:nvPicPr>
          <p:cNvPr id="5" name="Picture 4" descr="08-conta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280160"/>
            <a:ext cx="5212080" cy="3619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73952"/>
            <a:ext cx="1146017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78"/>
                </a:solidFill>
              </a:rPr>
              <a:t>FastAccounts · User guide · v0.3.0 · 2026-10-09 · fastaccounts.org ·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185855" cy="53035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64008"/>
          <a:lstStyle/>
          <a:p>
            <a:pPr algn="ctr"/>
            <a:r>
              <a:rPr sz="2100" b="1">
                <a:solidFill>
                  <a:srgbClr val="FFFFFF"/>
                </a:solidFill>
              </a:rPr>
              <a:t>Recurring invoices and reminders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438912"/>
            <a:ext cx="73152" cy="5303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57607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5B21B6"/>
                </a:solidFill>
              </a:rPr>
              <a:t>Recurring &amp; reminders</a:t>
            </a:r>
            <a:r>
              <a:rPr sz="1400">
                <a:solidFill>
                  <a:srgbClr val="14062B"/>
                </a:solidFill>
              </a:rPr>
              <a:t> lists invoice schedules and the reminder ladder.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A schedule copies a template invoice </a:t>
            </a:r>
            <a:r>
              <a:rPr b="1" sz="1400">
                <a:solidFill>
                  <a:srgbClr val="5B21B6"/>
                </a:solidFill>
              </a:rPr>
              <a:t>weekly</a:t>
            </a:r>
            <a:r>
              <a:rPr sz="1400">
                <a:solidFill>
                  <a:srgbClr val="14062B"/>
                </a:solidFill>
              </a:rPr>
              <a:t>, </a:t>
            </a:r>
            <a:r>
              <a:rPr b="1" sz="1400">
                <a:solidFill>
                  <a:srgbClr val="5B21B6"/>
                </a:solidFill>
              </a:rPr>
              <a:t>monthly</a:t>
            </a:r>
            <a:r>
              <a:rPr sz="1400">
                <a:solidFill>
                  <a:srgbClr val="14062B"/>
                </a:solidFill>
              </a:rPr>
              <a:t>, </a:t>
            </a:r>
            <a:r>
              <a:rPr b="1" sz="1400">
                <a:solidFill>
                  <a:srgbClr val="5B21B6"/>
                </a:solidFill>
              </a:rPr>
              <a:t>quarterly</a:t>
            </a:r>
            <a:r>
              <a:rPr sz="1400">
                <a:solidFill>
                  <a:srgbClr val="14062B"/>
                </a:solidFill>
              </a:rPr>
              <a:t> or every </a:t>
            </a:r>
            <a:r>
              <a:rPr i="1" sz="1400">
                <a:solidFill>
                  <a:srgbClr val="14062B"/>
                </a:solidFill>
              </a:rPr>
              <a:t>n</a:t>
            </a:r>
            <a:r>
              <a:rPr sz="1400">
                <a:solidFill>
                  <a:srgbClr val="14062B"/>
                </a:solidFill>
              </a:rPr>
              <a:t> days. </a:t>
            </a:r>
            <a:r>
              <a:rPr b="1" sz="1400">
                <a:solidFill>
                  <a:srgbClr val="5B21B6"/>
                </a:solidFill>
              </a:rPr>
              <a:t>Run now</a:t>
            </a:r>
            <a:r>
              <a:rPr sz="1400">
                <a:solidFill>
                  <a:srgbClr val="14062B"/>
                </a:solidFill>
              </a:rPr>
              <a:t> is enabled once the next run date is due; </a:t>
            </a:r>
            <a:r>
              <a:rPr b="1" sz="1400">
                <a:solidFill>
                  <a:srgbClr val="5B21B6"/>
                </a:solidFill>
              </a:rPr>
              <a:t>Pause</a:t>
            </a:r>
            <a:r>
              <a:rPr sz="1400">
                <a:solidFill>
                  <a:srgbClr val="14062B"/>
                </a:solidFill>
              </a:rPr>
              <a:t> and </a:t>
            </a:r>
            <a:r>
              <a:rPr b="1" sz="1400">
                <a:solidFill>
                  <a:srgbClr val="5B21B6"/>
                </a:solidFill>
              </a:rPr>
              <a:t>History</a:t>
            </a:r>
            <a:r>
              <a:rPr sz="1400">
                <a:solidFill>
                  <a:srgbClr val="14062B"/>
                </a:solidFill>
              </a:rPr>
              <a:t> manage the schedule.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</a:t>
            </a:r>
            <a:r>
              <a:rPr b="1" sz="1400">
                <a:solidFill>
                  <a:srgbClr val="5B21B6"/>
                </a:solidFill>
              </a:rPr>
              <a:t>Reminders due</a:t>
            </a:r>
            <a:r>
              <a:rPr sz="1400">
                <a:solidFill>
                  <a:srgbClr val="14062B"/>
                </a:solidFill>
              </a:rPr>
              <a:t> lists overdue invoices at each step: 3 days before due, 7 days overdue and 14 days overdue. </a:t>
            </a:r>
            <a:r>
              <a:rPr b="1" sz="1400">
                <a:solidFill>
                  <a:srgbClr val="5B21B6"/>
                </a:solidFill>
              </a:rPr>
              <a:t>Send reminder</a:t>
            </a:r>
            <a:r>
              <a:rPr sz="1400">
                <a:solidFill>
                  <a:srgbClr val="14062B"/>
                </a:solidFill>
              </a:rPr>
              <a:t> or </a:t>
            </a:r>
            <a:r>
              <a:rPr b="1" sz="1400">
                <a:solidFill>
                  <a:srgbClr val="5B21B6"/>
                </a:solidFill>
              </a:rPr>
              <a:t>Skip</a:t>
            </a:r>
            <a:r>
              <a:rPr sz="1400">
                <a:solidFill>
                  <a:srgbClr val="14062B"/>
                </a:solidFill>
              </a:rPr>
              <a:t> each one.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E-mail delivery needs </a:t>
            </a:r>
            <a:r>
              <a:rPr sz="1400">
                <a:solidFill>
                  <a:srgbClr val="5B21B6"/>
                </a:solidFill>
                <a:latin typeface="Consolas"/>
              </a:rPr>
              <a:t>POSTMARK_API_TOKEN</a:t>
            </a:r>
            <a:r>
              <a:rPr sz="1400">
                <a:solidFill>
                  <a:srgbClr val="14062B"/>
                </a:solidFill>
              </a:rPr>
              <a:t> and </a:t>
            </a:r>
            <a:r>
              <a:rPr sz="1400">
                <a:solidFill>
                  <a:srgbClr val="5B21B6"/>
                </a:solidFill>
                <a:latin typeface="Consolas"/>
              </a:rPr>
              <a:t>FROM_EMAIL</a:t>
            </a:r>
            <a:r>
              <a:rPr sz="1400">
                <a:solidFill>
                  <a:srgbClr val="14062B"/>
                </a:solidFill>
              </a:rPr>
              <a:t>; until then the page says so and nothing is sent.</a:t>
            </a:r>
          </a:p>
        </p:txBody>
      </p:sp>
      <p:pic>
        <p:nvPicPr>
          <p:cNvPr id="5" name="Picture 4" descr="09-recurring-remind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280160"/>
            <a:ext cx="5212080" cy="3619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73952"/>
            <a:ext cx="1146017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78"/>
                </a:solidFill>
              </a:rPr>
              <a:t>FastAccounts · User guide · v0.3.0 · 2026-10-09 · fastaccounts.org ·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185855" cy="53035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64008"/>
          <a:lstStyle/>
          <a:p>
            <a:pPr algn="ctr"/>
            <a:r>
              <a:rPr sz="2100" b="1">
                <a:solidFill>
                  <a:srgbClr val="FFFFFF"/>
                </a:solidFill>
              </a:rPr>
              <a:t>Create a recurring schedule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438912"/>
            <a:ext cx="73152" cy="5303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57607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Create and save a draft invoice to use as the </a:t>
            </a:r>
            <a:r>
              <a:rPr b="1" sz="1400">
                <a:solidFill>
                  <a:srgbClr val="5B21B6"/>
                </a:solidFill>
              </a:rPr>
              <a:t>Template invoice</a:t>
            </a:r>
            <a:r>
              <a:rPr sz="1400">
                <a:solidFill>
                  <a:srgbClr val="14062B"/>
                </a:solidFill>
              </a:rPr>
              <a:t>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Click </a:t>
            </a:r>
            <a:r>
              <a:rPr b="1" sz="1400">
                <a:solidFill>
                  <a:srgbClr val="5B21B6"/>
                </a:solidFill>
              </a:rPr>
              <a:t>New schedule</a:t>
            </a:r>
            <a:r>
              <a:rPr sz="1400">
                <a:solidFill>
                  <a:srgbClr val="14062B"/>
                </a:solidFill>
              </a:rPr>
              <a:t> and give it a </a:t>
            </a:r>
            <a:r>
              <a:rPr b="1" sz="1400">
                <a:solidFill>
                  <a:srgbClr val="5B21B6"/>
                </a:solidFill>
              </a:rPr>
              <a:t>Name</a:t>
            </a:r>
            <a:r>
              <a:rPr sz="1400">
                <a:solidFill>
                  <a:srgbClr val="14062B"/>
                </a:solidFill>
              </a:rPr>
              <a:t>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Choose the </a:t>
            </a:r>
            <a:r>
              <a:rPr b="1" sz="1400">
                <a:solidFill>
                  <a:srgbClr val="5B21B6"/>
                </a:solidFill>
              </a:rPr>
              <a:t>Interval</a:t>
            </a:r>
            <a:r>
              <a:rPr sz="1400">
                <a:solidFill>
                  <a:srgbClr val="14062B"/>
                </a:solidFill>
              </a:rPr>
              <a:t>, the </a:t>
            </a:r>
            <a:r>
              <a:rPr b="1" sz="1400">
                <a:solidFill>
                  <a:srgbClr val="5B21B6"/>
                </a:solidFill>
              </a:rPr>
              <a:t>Next run</a:t>
            </a:r>
            <a:r>
              <a:rPr sz="1400">
                <a:solidFill>
                  <a:srgbClr val="14062B"/>
                </a:solidFill>
              </a:rPr>
              <a:t> date and an optional </a:t>
            </a:r>
            <a:r>
              <a:rPr b="1" sz="1400">
                <a:solidFill>
                  <a:srgbClr val="5B21B6"/>
                </a:solidFill>
              </a:rPr>
              <a:t>End date</a:t>
            </a:r>
            <a:r>
              <a:rPr sz="1400">
                <a:solidFill>
                  <a:srgbClr val="14062B"/>
                </a:solidFill>
              </a:rPr>
              <a:t>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Tick </a:t>
            </a:r>
            <a:r>
              <a:rPr b="1" sz="1400">
                <a:solidFill>
                  <a:srgbClr val="5B21B6"/>
                </a:solidFill>
              </a:rPr>
              <a:t>Auto-email</a:t>
            </a:r>
            <a:r>
              <a:rPr sz="1400">
                <a:solidFill>
                  <a:srgbClr val="14062B"/>
                </a:solidFill>
              </a:rPr>
              <a:t> to send each new invoice automatically.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</a:t>
            </a:r>
            <a:r>
              <a:rPr b="1" sz="1400">
                <a:solidFill>
                  <a:srgbClr val="5B21B6"/>
                </a:solidFill>
              </a:rPr>
              <a:t>Create schedule</a:t>
            </a:r>
            <a:r>
              <a:rPr sz="1400">
                <a:solidFill>
                  <a:srgbClr val="14062B"/>
                </a:solidFill>
              </a:rPr>
              <a:t>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Each run creates a normal invoice from the template, so numbering, VAT and posting follow the same rules as invoices you create by hand.</a:t>
            </a:r>
          </a:p>
        </p:txBody>
      </p:sp>
      <p:pic>
        <p:nvPicPr>
          <p:cNvPr id="5" name="Picture 4" descr="10-new-sche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280160"/>
            <a:ext cx="5212080" cy="3619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73952"/>
            <a:ext cx="1146017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78"/>
                </a:solidFill>
              </a:rPr>
              <a:t>FastAccounts · User guide · v0.3.0 · 2026-10-09 · fastaccounts.org ·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185855" cy="5943600"/>
          </a:xfrm>
          <a:prstGeom prst="rect">
            <a:avLst/>
          </a:prstGeom>
          <a:solidFill>
            <a:srgbClr val="140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38912"/>
            <a:ext cx="73152" cy="59436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114300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EDE9FE"/>
                </a:solidFill>
              </a:rPr>
              <a:t>SECTION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874519"/>
            <a:ext cx="1018001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</a:rPr>
              <a:t>Banking, accounting and tax</a:t>
            </a:r>
          </a:p>
          <a:p>
            <a:pPr>
              <a:spcBef>
                <a:spcPts val="1600"/>
              </a:spcBef>
            </a:pPr>
            <a:r>
              <a:rPr sz="1800">
                <a:solidFill>
                  <a:srgbClr val="EDE9FE"/>
                </a:solidFill>
              </a:rPr>
              <a:t>Match bank lines to documents, read the ledger and prepare VAT workpapers for accountant review.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73952"/>
            <a:ext cx="1146017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78"/>
                </a:solidFill>
              </a:rPr>
              <a:t>FastAccounts · User guide · v0.3.0 · 2026-10-09 · fastaccounts.org ·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185855" cy="53035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64008"/>
          <a:lstStyle/>
          <a:p>
            <a:pPr algn="ctr"/>
            <a:r>
              <a:rPr sz="2100" b="1">
                <a:solidFill>
                  <a:srgbClr val="FFFFFF"/>
                </a:solidFill>
              </a:rPr>
              <a:t>Banking and reconciliation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438912"/>
            <a:ext cx="73152" cy="5303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57607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5B21B6"/>
                </a:solidFill>
              </a:rPr>
              <a:t>Banking</a:t>
            </a:r>
            <a:r>
              <a:rPr sz="1400">
                <a:solidFill>
                  <a:srgbClr val="14062B"/>
                </a:solidFill>
              </a:rPr>
              <a:t> shows each bank account and its imported transactions.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</a:t>
            </a:r>
            <a:r>
              <a:rPr b="1" sz="1400">
                <a:solidFill>
                  <a:srgbClr val="5B21B6"/>
                </a:solidFill>
              </a:rPr>
              <a:t>Import statement</a:t>
            </a:r>
            <a:r>
              <a:rPr sz="1400">
                <a:solidFill>
                  <a:srgbClr val="14062B"/>
                </a:solidFill>
              </a:rPr>
              <a:t> (CSV or CAMT.053 XML).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Each unmatched line offers explainable match suggestions; click </a:t>
            </a:r>
            <a:r>
              <a:rPr b="1" sz="1400">
                <a:solidFill>
                  <a:srgbClr val="5B21B6"/>
                </a:solidFill>
              </a:rPr>
              <a:t>Review</a:t>
            </a:r>
            <a:r>
              <a:rPr sz="1400">
                <a:solidFill>
                  <a:srgbClr val="14062B"/>
                </a:solidFill>
              </a:rPr>
              <a:t>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</a:t>
            </a:r>
            <a:r>
              <a:rPr b="1" sz="1400">
                <a:solidFill>
                  <a:srgbClr val="5B21B6"/>
                </a:solidFill>
              </a:rPr>
              <a:t>Confirm match</a:t>
            </a:r>
            <a:r>
              <a:rPr sz="1400">
                <a:solidFill>
                  <a:srgbClr val="14062B"/>
                </a:solidFill>
              </a:rPr>
              <a:t> to allocate the payment to invoices or bills.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5B21B6"/>
                </a:solidFill>
              </a:rPr>
              <a:t>Add account</a:t>
            </a:r>
            <a:r>
              <a:rPr sz="1400">
                <a:solidFill>
                  <a:srgbClr val="14062B"/>
                </a:solidFill>
              </a:rPr>
              <a:t> registers another bank account for the client. Confirmed matches post the payment and update invoice and bill statuses.</a:t>
            </a:r>
          </a:p>
        </p:txBody>
      </p:sp>
      <p:pic>
        <p:nvPicPr>
          <p:cNvPr id="5" name="Picture 4" descr="11-ban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280160"/>
            <a:ext cx="5212080" cy="3619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73952"/>
            <a:ext cx="1146017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78"/>
                </a:solidFill>
              </a:rPr>
              <a:t>FastAccounts · User guide · v0.3.0 · 2026-10-09 · fastaccounts.org ·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185855" cy="53035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64008"/>
          <a:lstStyle/>
          <a:p>
            <a:pPr algn="ctr"/>
            <a:r>
              <a:rPr sz="2100" b="1">
                <a:solidFill>
                  <a:srgbClr val="FFFFFF"/>
                </a:solidFill>
              </a:rPr>
              <a:t>Accounting reports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438912"/>
            <a:ext cx="73152" cy="5303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57607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5B21B6"/>
                </a:solidFill>
              </a:rPr>
              <a:t>Accounting</a:t>
            </a:r>
            <a:r>
              <a:rPr sz="1400">
                <a:solidFill>
                  <a:srgbClr val="14062B"/>
                </a:solidFill>
              </a:rPr>
              <a:t> builds reports from the immutable, balanced ledger: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</a:t>
            </a:r>
            <a:r>
              <a:rPr b="1" sz="1400">
                <a:solidFill>
                  <a:srgbClr val="5B21B6"/>
                </a:solidFill>
              </a:rPr>
              <a:t>Trial balance</a:t>
            </a:r>
            <a:r>
              <a:rPr sz="1400">
                <a:solidFill>
                  <a:srgbClr val="14062B"/>
                </a:solidFill>
              </a:rPr>
              <a:t>, </a:t>
            </a:r>
            <a:r>
              <a:rPr b="1" sz="1400">
                <a:solidFill>
                  <a:srgbClr val="5B21B6"/>
                </a:solidFill>
              </a:rPr>
              <a:t>Profit &amp; loss</a:t>
            </a:r>
            <a:r>
              <a:rPr sz="1400">
                <a:solidFill>
                  <a:srgbClr val="14062B"/>
                </a:solidFill>
              </a:rPr>
              <a:t>, </a:t>
            </a:r>
            <a:r>
              <a:rPr b="1" sz="1400">
                <a:solidFill>
                  <a:srgbClr val="5B21B6"/>
                </a:solidFill>
              </a:rPr>
              <a:t>Balance sheet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</a:t>
            </a:r>
            <a:r>
              <a:rPr b="1" sz="1400">
                <a:solidFill>
                  <a:srgbClr val="5B21B6"/>
                </a:solidFill>
              </a:rPr>
              <a:t>General ledger</a:t>
            </a:r>
            <a:r>
              <a:rPr sz="1400">
                <a:solidFill>
                  <a:srgbClr val="14062B"/>
                </a:solidFill>
              </a:rPr>
              <a:t> with every posting and its reference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</a:t>
            </a:r>
            <a:r>
              <a:rPr b="1" sz="1400">
                <a:solidFill>
                  <a:srgbClr val="5B21B6"/>
                </a:solidFill>
              </a:rPr>
              <a:t>Receivables aging</a:t>
            </a:r>
            <a:r>
              <a:rPr sz="1400">
                <a:solidFill>
                  <a:srgbClr val="14062B"/>
                </a:solidFill>
              </a:rPr>
              <a:t>, </a:t>
            </a:r>
            <a:r>
              <a:rPr b="1" sz="1400">
                <a:solidFill>
                  <a:srgbClr val="5B21B6"/>
                </a:solidFill>
              </a:rPr>
              <a:t>Payables aging</a:t>
            </a:r>
            <a:r>
              <a:rPr sz="1400">
                <a:solidFill>
                  <a:srgbClr val="14062B"/>
                </a:solidFill>
              </a:rPr>
              <a:t> and </a:t>
            </a:r>
            <a:r>
              <a:rPr b="1" sz="1400">
                <a:solidFill>
                  <a:srgbClr val="5B21B6"/>
                </a:solidFill>
              </a:rPr>
              <a:t>Cash summary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Choose </a:t>
            </a:r>
            <a:r>
              <a:rPr b="1" sz="1400">
                <a:solidFill>
                  <a:srgbClr val="5B21B6"/>
                </a:solidFill>
              </a:rPr>
              <a:t>From</a:t>
            </a:r>
            <a:r>
              <a:rPr sz="1400">
                <a:solidFill>
                  <a:srgbClr val="14062B"/>
                </a:solidFill>
              </a:rPr>
              <a:t> and </a:t>
            </a:r>
            <a:r>
              <a:rPr b="1" sz="1400">
                <a:solidFill>
                  <a:srgbClr val="5B21B6"/>
                </a:solidFill>
              </a:rPr>
              <a:t>To</a:t>
            </a:r>
            <a:r>
              <a:rPr sz="1400">
                <a:solidFill>
                  <a:srgbClr val="14062B"/>
                </a:solidFill>
              </a:rPr>
              <a:t>, click </a:t>
            </a:r>
            <a:r>
              <a:rPr b="1" sz="1400">
                <a:solidFill>
                  <a:srgbClr val="5B21B6"/>
                </a:solidFill>
              </a:rPr>
              <a:t>Apply</a:t>
            </a:r>
            <a:r>
              <a:rPr sz="1400">
                <a:solidFill>
                  <a:srgbClr val="14062B"/>
                </a:solidFill>
              </a:rPr>
              <a:t>, and use </a:t>
            </a:r>
            <a:r>
              <a:rPr b="1" sz="1400">
                <a:solidFill>
                  <a:srgbClr val="5B21B6"/>
                </a:solidFill>
              </a:rPr>
              <a:t>Print / save PDF</a:t>
            </a:r>
            <a:r>
              <a:rPr sz="1400">
                <a:solidFill>
                  <a:srgbClr val="14062B"/>
                </a:solidFill>
              </a:rPr>
              <a:t> for the client file. Postings are never edited; corrections are new entries.</a:t>
            </a:r>
          </a:p>
        </p:txBody>
      </p:sp>
      <p:pic>
        <p:nvPicPr>
          <p:cNvPr id="5" name="Picture 4" descr="12-accounting-trial-bal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280160"/>
            <a:ext cx="5212080" cy="3619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73952"/>
            <a:ext cx="1146017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78"/>
                </a:solidFill>
              </a:rPr>
              <a:t>FastAccounts · User guide · v0.3.0 · 2026-10-09 · fastaccounts.org ·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185855" cy="53035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64008"/>
          <a:lstStyle/>
          <a:p>
            <a:pPr algn="ctr"/>
            <a:r>
              <a:rPr sz="2100" b="1">
                <a:solidFill>
                  <a:srgbClr val="FFFFFF"/>
                </a:solidFill>
              </a:rPr>
              <a:t>Estonian VAT (KMD) workpapers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438912"/>
            <a:ext cx="73152" cy="5303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57607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5B21B6"/>
                </a:solidFill>
              </a:rPr>
              <a:t>Tax</a:t>
            </a:r>
            <a:r>
              <a:rPr sz="1400">
                <a:solidFill>
                  <a:srgbClr val="14062B"/>
                </a:solidFill>
              </a:rPr>
              <a:t> prepares the Estonian </a:t>
            </a:r>
            <a:r>
              <a:rPr b="1" sz="1400">
                <a:solidFill>
                  <a:srgbClr val="5B21B6"/>
                </a:solidFill>
              </a:rPr>
              <a:t>KMD</a:t>
            </a:r>
            <a:r>
              <a:rPr sz="1400">
                <a:solidFill>
                  <a:srgbClr val="14062B"/>
                </a:solidFill>
              </a:rPr>
              <a:t> (and the UK nine-box VAT return for UK books).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</a:t>
            </a:r>
            <a:r>
              <a:rPr b="1" sz="1400">
                <a:solidFill>
                  <a:srgbClr val="5B21B6"/>
                </a:solidFill>
              </a:rPr>
              <a:t>Prepare workpaper</a:t>
            </a:r>
            <a:r>
              <a:rPr sz="1400">
                <a:solidFill>
                  <a:srgbClr val="14062B"/>
                </a:solidFill>
              </a:rPr>
              <a:t> for the period.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Check the boxes against the listed tax codes.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</a:t>
            </a:r>
            <a:r>
              <a:rPr b="1" sz="1400">
                <a:solidFill>
                  <a:srgbClr val="5B21B6"/>
                </a:solidFill>
              </a:rPr>
              <a:t>Mark accountant reviewed</a:t>
            </a:r>
            <a:r>
              <a:rPr sz="1400">
                <a:solidFill>
                  <a:srgbClr val="14062B"/>
                </a:solidFill>
              </a:rPr>
              <a:t> before exporting.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5B21B6"/>
                </a:solidFill>
              </a:rPr>
              <a:t>Prepare VD</a:t>
            </a:r>
            <a:r>
              <a:rPr sz="1400">
                <a:solidFill>
                  <a:srgbClr val="14062B"/>
                </a:solidFill>
              </a:rPr>
              <a:t> builds the EU sales listing. Exports require accountant review; FastAccounts does not file directly with EMTA or HMRC.</a:t>
            </a:r>
          </a:p>
        </p:txBody>
      </p:sp>
      <p:pic>
        <p:nvPicPr>
          <p:cNvPr id="5" name="Picture 4" descr="13-tax-km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280160"/>
            <a:ext cx="5212080" cy="3619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73952"/>
            <a:ext cx="1146017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78"/>
                </a:solidFill>
              </a:rPr>
              <a:t>FastAccounts · User guide · v0.3.0 · 2026-10-09 · fastaccounts.org ·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185855" cy="5943600"/>
          </a:xfrm>
          <a:prstGeom prst="rect">
            <a:avLst/>
          </a:prstGeom>
          <a:solidFill>
            <a:srgbClr val="140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38912"/>
            <a:ext cx="73152" cy="59436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114300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EDE9FE"/>
                </a:solidFill>
              </a:rPr>
              <a:t>SECTION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874519"/>
            <a:ext cx="1018001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</a:rPr>
              <a:t>Payroll for accounting bureaus</a:t>
            </a:r>
          </a:p>
          <a:p>
            <a:pPr>
              <a:spcBef>
                <a:spcPts val="1600"/>
              </a:spcBef>
            </a:pPr>
            <a:r>
              <a:rPr sz="1800">
                <a:solidFill>
                  <a:srgbClr val="EDE9FE"/>
                </a:solidFill>
              </a:rPr>
              <a:t>Estonian 2026 payroll per client: monthly, part-time, hourly and board-member pay, the social tax minimum, payslips and automatic ledger postings.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73952"/>
            <a:ext cx="1146017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78"/>
                </a:solidFill>
              </a:rPr>
              <a:t>FastAccounts · User guide · v0.3.0 · 2026-10-09 · fastaccounts.org ·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185855" cy="53035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64008"/>
          <a:lstStyle/>
          <a:p>
            <a:pPr algn="ctr"/>
            <a:r>
              <a:rPr sz="2100" b="1">
                <a:solidFill>
                  <a:srgbClr val="FFFFFF"/>
                </a:solidFill>
              </a:rPr>
              <a:t>Employees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438912"/>
            <a:ext cx="73152" cy="5303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57607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Open </a:t>
            </a:r>
            <a:r>
              <a:rPr b="1" sz="1400">
                <a:solidFill>
                  <a:srgbClr val="5B21B6"/>
                </a:solidFill>
              </a:rPr>
              <a:t>Payroll</a:t>
            </a:r>
            <a:r>
              <a:rPr sz="1400">
                <a:solidFill>
                  <a:srgbClr val="14062B"/>
                </a:solidFill>
              </a:rPr>
              <a:t> in an Estonian EUR client (here </a:t>
            </a:r>
            <a:r>
              <a:rPr b="1" sz="1400">
                <a:solidFill>
                  <a:srgbClr val="5B21B6"/>
                </a:solidFill>
              </a:rPr>
              <a:t>Demo OÜ (sample payroll)</a:t>
            </a:r>
            <a:r>
              <a:rPr sz="1400">
                <a:solidFill>
                  <a:srgbClr val="14062B"/>
                </a:solidFill>
              </a:rPr>
              <a:t>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</a:t>
            </a:r>
            <a:r>
              <a:rPr b="1" sz="1400">
                <a:solidFill>
                  <a:srgbClr val="5B21B6"/>
                </a:solidFill>
              </a:rPr>
              <a:t>Gross salary</a:t>
            </a:r>
            <a:r>
              <a:rPr sz="1400">
                <a:solidFill>
                  <a:srgbClr val="14062B"/>
                </a:solidFill>
              </a:rPr>
              <a:t> shows monthly pay, or the </a:t>
            </a:r>
            <a:r>
              <a:rPr b="1" sz="1400">
                <a:solidFill>
                  <a:srgbClr val="5B21B6"/>
                </a:solidFill>
              </a:rPr>
              <a:t>hourly rate per hour</a:t>
            </a:r>
            <a:r>
              <a:rPr sz="1400">
                <a:solidFill>
                  <a:srgbClr val="14062B"/>
                </a:solidFill>
              </a:rPr>
              <a:t>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Part-time staff show their fraction (</a:t>
            </a:r>
            <a:r>
              <a:rPr b="1" sz="1400">
                <a:solidFill>
                  <a:srgbClr val="5B21B6"/>
                </a:solidFill>
              </a:rPr>
              <a:t>Part-time 0.5</a:t>
            </a:r>
            <a:r>
              <a:rPr sz="1400">
                <a:solidFill>
                  <a:srgbClr val="14062B"/>
                </a:solidFill>
              </a:rPr>
              <a:t>); board members carry a </a:t>
            </a:r>
            <a:r>
              <a:rPr b="1" sz="1400">
                <a:solidFill>
                  <a:srgbClr val="5B21B6"/>
                </a:solidFill>
              </a:rPr>
              <a:t>Board member</a:t>
            </a:r>
            <a:r>
              <a:rPr sz="1400">
                <a:solidFill>
                  <a:srgbClr val="14062B"/>
                </a:solidFill>
              </a:rPr>
              <a:t> badge.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</a:t>
            </a:r>
            <a:r>
              <a:rPr b="1" sz="1400">
                <a:solidFill>
                  <a:srgbClr val="5B21B6"/>
                </a:solidFill>
              </a:rPr>
              <a:t>Pension %</a:t>
            </a:r>
            <a:r>
              <a:rPr sz="1400">
                <a:solidFill>
                  <a:srgbClr val="14062B"/>
                </a:solidFill>
              </a:rPr>
              <a:t> is the II pillar rate (0, 2, 4 or 6%).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</a:t>
            </a:r>
            <a:r>
              <a:rPr b="1" sz="1400">
                <a:solidFill>
                  <a:srgbClr val="5B21B6"/>
                </a:solidFill>
              </a:rPr>
              <a:t>Tax-free minimum</a:t>
            </a:r>
            <a:r>
              <a:rPr sz="1400">
                <a:solidFill>
                  <a:srgbClr val="14062B"/>
                </a:solidFill>
              </a:rPr>
              <a:t> shows who applies the €700 basic exemption here.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5B21B6"/>
                </a:solidFill>
              </a:rPr>
              <a:t>Add employee</a:t>
            </a:r>
            <a:r>
              <a:rPr sz="1400">
                <a:solidFill>
                  <a:srgbClr val="14062B"/>
                </a:solidFill>
              </a:rPr>
              <a:t> and </a:t>
            </a:r>
            <a:r>
              <a:rPr b="1" sz="1400">
                <a:solidFill>
                  <a:srgbClr val="5B21B6"/>
                </a:solidFill>
              </a:rPr>
              <a:t>Run payroll for month</a:t>
            </a:r>
            <a:r>
              <a:rPr sz="1400">
                <a:solidFill>
                  <a:srgbClr val="14062B"/>
                </a:solidFill>
              </a:rPr>
              <a:t> are at the top right.</a:t>
            </a:r>
          </a:p>
        </p:txBody>
      </p:sp>
      <p:pic>
        <p:nvPicPr>
          <p:cNvPr id="5" name="Picture 4" descr="14-payroll-employe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280160"/>
            <a:ext cx="5212080" cy="3619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73952"/>
            <a:ext cx="1146017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78"/>
                </a:solidFill>
              </a:rPr>
              <a:t>FastAccounts · User guide · v0.3.0 · 2026-10-09 · fastaccounts.org ·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185855" cy="53035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64008"/>
          <a:lstStyle/>
          <a:p>
            <a:pPr algn="ctr"/>
            <a:r>
              <a:rPr sz="2100" b="1">
                <a:solidFill>
                  <a:srgbClr val="FFFFFF"/>
                </a:solidFill>
              </a:rPr>
              <a:t>Part-time employee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438912"/>
            <a:ext cx="73152" cy="5303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57607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</a:t>
            </a:r>
            <a:r>
              <a:rPr b="1" sz="1400">
                <a:solidFill>
                  <a:srgbClr val="5B21B6"/>
                </a:solidFill>
              </a:rPr>
              <a:t>Pay basis</a:t>
            </a:r>
            <a:r>
              <a:rPr sz="1400">
                <a:solidFill>
                  <a:srgbClr val="14062B"/>
                </a:solidFill>
              </a:rPr>
              <a:t>: </a:t>
            </a:r>
            <a:r>
              <a:rPr b="1" sz="1400">
                <a:solidFill>
                  <a:srgbClr val="5B21B6"/>
                </a:solidFill>
              </a:rPr>
              <a:t>Monthly salary</a:t>
            </a:r>
            <a:r>
              <a:rPr sz="1400">
                <a:solidFill>
                  <a:srgbClr val="14062B"/>
                </a:solidFill>
              </a:rPr>
              <a:t>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</a:t>
            </a:r>
            <a:r>
              <a:rPr b="1" sz="1400">
                <a:solidFill>
                  <a:srgbClr val="5B21B6"/>
                </a:solidFill>
              </a:rPr>
              <a:t>Monthly salary or board fee</a:t>
            </a:r>
            <a:r>
              <a:rPr sz="1400">
                <a:solidFill>
                  <a:srgbClr val="14062B"/>
                </a:solidFill>
              </a:rPr>
              <a:t>: the contractual monthly gross (€700).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</a:t>
            </a:r>
            <a:r>
              <a:rPr b="1" sz="1400">
                <a:solidFill>
                  <a:srgbClr val="5B21B6"/>
                </a:solidFill>
              </a:rPr>
              <a:t>Work-time fraction (FTE)</a:t>
            </a:r>
            <a:r>
              <a:rPr sz="1400">
                <a:solidFill>
                  <a:srgbClr val="14062B"/>
                </a:solidFill>
              </a:rPr>
              <a:t>: 0.5 for half time.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</a:t>
            </a:r>
            <a:r>
              <a:rPr b="1" sz="1400">
                <a:solidFill>
                  <a:srgbClr val="5B21B6"/>
                </a:solidFill>
              </a:rPr>
              <a:t>Pension %</a:t>
            </a:r>
            <a:r>
              <a:rPr sz="1400">
                <a:solidFill>
                  <a:srgbClr val="14062B"/>
                </a:solidFill>
              </a:rPr>
              <a:t>: 0% is allowed for anyone not in the II pillar.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The minimum-wage check is pro-rated: €946 × 0.5 = €473 from 1 April 2026 (€886 before). Set </a:t>
            </a:r>
            <a:r>
              <a:rPr b="1" sz="1400">
                <a:solidFill>
                  <a:srgbClr val="5B21B6"/>
                </a:solidFill>
              </a:rPr>
              <a:t>Employment start date</a:t>
            </a:r>
            <a:r>
              <a:rPr sz="1400">
                <a:solidFill>
                  <a:srgbClr val="14062B"/>
                </a:solidFill>
              </a:rPr>
              <a:t> and </a:t>
            </a:r>
            <a:r>
              <a:rPr b="1" sz="1400">
                <a:solidFill>
                  <a:srgbClr val="5B21B6"/>
                </a:solidFill>
              </a:rPr>
              <a:t>end date</a:t>
            </a:r>
            <a:r>
              <a:rPr sz="1400">
                <a:solidFill>
                  <a:srgbClr val="14062B"/>
                </a:solidFill>
              </a:rPr>
              <a:t> so pay runs skip people outside their employment.</a:t>
            </a:r>
          </a:p>
        </p:txBody>
      </p:sp>
      <p:pic>
        <p:nvPicPr>
          <p:cNvPr id="5" name="Picture 4" descr="15-employee-part-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280160"/>
            <a:ext cx="5212080" cy="3619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73952"/>
            <a:ext cx="1146017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78"/>
                </a:solidFill>
              </a:rPr>
              <a:t>FastAccounts · User guide · v0.3.0 · 2026-10-09 · fastaccounts.org ·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185855" cy="53035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64008"/>
          <a:lstStyle/>
          <a:p>
            <a:pPr algn="ctr"/>
            <a:r>
              <a:rPr sz="2100" b="1">
                <a:solidFill>
                  <a:srgbClr val="FFFFFF"/>
                </a:solidFill>
              </a:rPr>
              <a:t>Hourly employee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438912"/>
            <a:ext cx="73152" cy="5303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57607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</a:t>
            </a:r>
            <a:r>
              <a:rPr b="1" sz="1400">
                <a:solidFill>
                  <a:srgbClr val="5B21B6"/>
                </a:solidFill>
              </a:rPr>
              <a:t>Pay basis</a:t>
            </a:r>
            <a:r>
              <a:rPr sz="1400">
                <a:solidFill>
                  <a:srgbClr val="14062B"/>
                </a:solidFill>
              </a:rPr>
              <a:t>: </a:t>
            </a:r>
            <a:r>
              <a:rPr b="1" sz="1400">
                <a:solidFill>
                  <a:srgbClr val="5B21B6"/>
                </a:solidFill>
              </a:rPr>
              <a:t>Hourly pay</a:t>
            </a:r>
            <a:r>
              <a:rPr sz="1400">
                <a:solidFill>
                  <a:srgbClr val="14062B"/>
                </a:solidFill>
              </a:rPr>
              <a:t>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</a:t>
            </a:r>
            <a:r>
              <a:rPr b="1" sz="1400">
                <a:solidFill>
                  <a:srgbClr val="5B21B6"/>
                </a:solidFill>
              </a:rPr>
              <a:t>Hourly rate</a:t>
            </a:r>
            <a:r>
              <a:rPr sz="1400">
                <a:solidFill>
                  <a:srgbClr val="14062B"/>
                </a:solidFill>
              </a:rPr>
              <a:t>: €8.00 here; the minimum is €5.67/h from 1 April 2026 (€5.31 before).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Hours are entered in each month's pay run.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5B21B6"/>
                </a:solidFill>
              </a:rPr>
              <a:t>Board member fee</a:t>
            </a:r>
            <a:r>
              <a:rPr sz="1400">
                <a:solidFill>
                  <a:srgbClr val="14062B"/>
                </a:solidFill>
              </a:rPr>
              <a:t> is the third pay basis: no unemployment insurance and no social tax minimum. </a:t>
            </a:r>
            <a:r>
              <a:rPr b="1" sz="1400">
                <a:solidFill>
                  <a:srgbClr val="5B21B6"/>
                </a:solidFill>
              </a:rPr>
              <a:t>Social tax minimum exemption</a:t>
            </a:r>
            <a:r>
              <a:rPr sz="1400">
                <a:solidFill>
                  <a:srgbClr val="14062B"/>
                </a:solidFill>
              </a:rPr>
              <a:t> records why the minimum does not apply to a person (see the reference section).</a:t>
            </a:r>
          </a:p>
        </p:txBody>
      </p:sp>
      <p:pic>
        <p:nvPicPr>
          <p:cNvPr id="5" name="Picture 4" descr="16-employee-hour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280160"/>
            <a:ext cx="5212080" cy="3619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73952"/>
            <a:ext cx="1146017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78"/>
                </a:solidFill>
              </a:rPr>
              <a:t>FastAccounts · User guide · v0.3.0 · 2026-10-09 · fastaccounts.org ·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185855" cy="53035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64008"/>
          <a:lstStyle/>
          <a:p>
            <a:pPr algn="ctr"/>
            <a:r>
              <a:rPr sz="2100" b="1">
                <a:solidFill>
                  <a:srgbClr val="FFFFFF"/>
                </a:solidFill>
              </a:rPr>
              <a:t>Review a draft pay run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438912"/>
            <a:ext cx="73152" cy="5303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57607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The October 2026 draft lists gross, net and employer cost for the client (€16,254.00 gross, €21,797.23 employer cost). </a:t>
            </a:r>
            <a:r>
              <a:rPr b="1" sz="1400">
                <a:solidFill>
                  <a:srgbClr val="5B21B6"/>
                </a:solidFill>
              </a:rPr>
              <a:t>Employee breakdown</a:t>
            </a:r>
            <a:r>
              <a:rPr sz="1400">
                <a:solidFill>
                  <a:srgbClr val="14062B"/>
                </a:solidFill>
              </a:rPr>
              <a:t> shows: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</a:t>
            </a:r>
            <a:r>
              <a:rPr b="1" sz="1400">
                <a:solidFill>
                  <a:srgbClr val="5B21B6"/>
                </a:solidFill>
              </a:rPr>
              <a:t>Peeter Oja</a:t>
            </a:r>
            <a:r>
              <a:rPr sz="1400">
                <a:solidFill>
                  <a:srgbClr val="14062B"/>
                </a:solidFill>
              </a:rPr>
              <a:t>: €8.00 × 176 hours = €1,408.00 gross.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</a:t>
            </a:r>
            <a:r>
              <a:rPr b="1" sz="1400">
                <a:solidFill>
                  <a:srgbClr val="5B21B6"/>
                </a:solidFill>
              </a:rPr>
              <a:t>Liis Kuusk</a:t>
            </a:r>
            <a:r>
              <a:rPr sz="1400">
                <a:solidFill>
                  <a:srgbClr val="14062B"/>
                </a:solidFill>
              </a:rPr>
              <a:t> (0.5 FTE, €700): social tax €292.38, including a </a:t>
            </a:r>
            <a:r>
              <a:rPr b="1" sz="1400">
                <a:solidFill>
                  <a:srgbClr val="5B21B6"/>
                </a:solidFill>
              </a:rPr>
              <a:t>Social tax minimum top-up</a:t>
            </a:r>
            <a:r>
              <a:rPr sz="1400">
                <a:solidFill>
                  <a:srgbClr val="14062B"/>
                </a:solidFill>
              </a:rPr>
              <a:t> of €61.38 paid by the employer.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Income tax, II pillar, net pay and employer cost per person.</a:t>
            </a:r>
          </a:p>
        </p:txBody>
      </p:sp>
      <p:pic>
        <p:nvPicPr>
          <p:cNvPr id="5" name="Picture 4" descr="17-pay-run-draft-break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280160"/>
            <a:ext cx="5212080" cy="3619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73952"/>
            <a:ext cx="1146017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78"/>
                </a:solidFill>
              </a:rPr>
              <a:t>FastAccounts · User guide · v0.3.0 · 2026-10-09 · fastaccounts.org ·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185855" cy="53035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64008"/>
          <a:lstStyle/>
          <a:p>
            <a:pPr algn="ctr"/>
            <a:r>
              <a:rPr sz="2100" b="1">
                <a:solidFill>
                  <a:srgbClr val="FFFFFF"/>
                </a:solidFill>
              </a:rPr>
              <a:t>Run payroll for a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438912"/>
            <a:ext cx="73152" cy="5303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57607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Click </a:t>
            </a:r>
            <a:r>
              <a:rPr b="1" sz="1400">
                <a:solidFill>
                  <a:srgbClr val="5B21B6"/>
                </a:solidFill>
              </a:rPr>
              <a:t>Run payroll for month</a:t>
            </a:r>
            <a:r>
              <a:rPr sz="1400">
                <a:solidFill>
                  <a:srgbClr val="14062B"/>
                </a:solidFill>
              </a:rPr>
              <a:t> and choose the </a:t>
            </a:r>
            <a:r>
              <a:rPr b="1" sz="1400">
                <a:solidFill>
                  <a:srgbClr val="5B21B6"/>
                </a:solidFill>
              </a:rPr>
              <a:t>Month</a:t>
            </a:r>
            <a:r>
              <a:rPr sz="1400">
                <a:solidFill>
                  <a:srgbClr val="14062B"/>
                </a:solidFill>
              </a:rPr>
              <a:t>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Check the </a:t>
            </a:r>
            <a:r>
              <a:rPr b="1" sz="1400">
                <a:solidFill>
                  <a:srgbClr val="5B21B6"/>
                </a:solidFill>
              </a:rPr>
              <a:t>Included employees</a:t>
            </a:r>
            <a:r>
              <a:rPr sz="1400">
                <a:solidFill>
                  <a:srgbClr val="14062B"/>
                </a:solidFill>
              </a:rPr>
              <a:t> (active and employed in that month).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Enter </a:t>
            </a:r>
            <a:r>
              <a:rPr b="1" sz="1400">
                <a:solidFill>
                  <a:srgbClr val="5B21B6"/>
                </a:solidFill>
              </a:rPr>
              <a:t>Hours worked</a:t>
            </a:r>
            <a:r>
              <a:rPr sz="1400">
                <a:solidFill>
                  <a:srgbClr val="14062B"/>
                </a:solidFill>
              </a:rPr>
              <a:t> for each hourly employee.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</a:t>
            </a:r>
            <a:r>
              <a:rPr b="1" sz="1400">
                <a:solidFill>
                  <a:srgbClr val="5B21B6"/>
                </a:solidFill>
              </a:rPr>
              <a:t>Create draft</a:t>
            </a:r>
            <a:r>
              <a:rPr sz="1400">
                <a:solidFill>
                  <a:srgbClr val="14062B"/>
                </a:solidFill>
              </a:rPr>
              <a:t> and confirm.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Employee details are frozen in the draft, so later edits do not change it. A failed minimum-wage check names the employee and the amount.</a:t>
            </a:r>
          </a:p>
        </p:txBody>
      </p:sp>
      <p:pic>
        <p:nvPicPr>
          <p:cNvPr id="5" name="Picture 4" descr="18-pay-run-wiz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280160"/>
            <a:ext cx="5212080" cy="3619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73952"/>
            <a:ext cx="1146017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78"/>
                </a:solidFill>
              </a:rPr>
              <a:t>FastAccounts · User guide · v0.3.0 · 2026-10-09 · fastaccounts.org ·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185855" cy="53035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64008"/>
          <a:lstStyle/>
          <a:p>
            <a:pPr algn="ctr"/>
            <a:r>
              <a:rPr sz="2100" b="1">
                <a:solidFill>
                  <a:srgbClr val="FFFFFF"/>
                </a:solidFill>
              </a:rPr>
              <a:t>Approve and post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438912"/>
            <a:ext cx="73152" cy="5303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57607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5B21B6"/>
                </a:solidFill>
              </a:rPr>
              <a:t>Approve &amp; post</a:t>
            </a:r>
            <a:r>
              <a:rPr sz="1400">
                <a:solidFill>
                  <a:srgbClr val="14062B"/>
                </a:solidFill>
              </a:rPr>
              <a:t> shows the employer cost and asks for confirmation. Approval: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posts one balanced payroll entry to the client's ledger;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locks the run (delete or edit only while it is a draft);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makes the </a:t>
            </a:r>
            <a:r>
              <a:rPr b="1" sz="1400">
                <a:solidFill>
                  <a:srgbClr val="5B21B6"/>
                </a:solidFill>
              </a:rPr>
              <a:t>Payslips PDF</a:t>
            </a:r>
            <a:r>
              <a:rPr sz="1400">
                <a:solidFill>
                  <a:srgbClr val="14062B"/>
                </a:solidFill>
              </a:rPr>
              <a:t> available.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Delete a wrong draft with </a:t>
            </a:r>
            <a:r>
              <a:rPr b="1" sz="1400">
                <a:solidFill>
                  <a:srgbClr val="5B21B6"/>
                </a:solidFill>
              </a:rPr>
              <a:t>Delete draft</a:t>
            </a:r>
            <a:r>
              <a:rPr sz="1400">
                <a:solidFill>
                  <a:srgbClr val="14062B"/>
                </a:solidFill>
              </a:rPr>
              <a:t> and create it again.</a:t>
            </a:r>
          </a:p>
        </p:txBody>
      </p:sp>
      <p:pic>
        <p:nvPicPr>
          <p:cNvPr id="5" name="Picture 4" descr="19-pay-run-appro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280160"/>
            <a:ext cx="5212080" cy="3619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73952"/>
            <a:ext cx="1146017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78"/>
                </a:solidFill>
              </a:rPr>
              <a:t>FastAccounts · User guide · v0.3.0 · 2026-10-09 · fastaccounts.org ·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185855" cy="53035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64008"/>
          <a:lstStyle/>
          <a:p>
            <a:pPr algn="ctr"/>
            <a:r>
              <a:rPr sz="2100" b="1">
                <a:solidFill>
                  <a:srgbClr val="FFFFFF"/>
                </a:solidFill>
              </a:rPr>
              <a:t>Payslips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438912"/>
            <a:ext cx="73152" cy="5303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57607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5B21B6"/>
                </a:solidFill>
              </a:rPr>
              <a:t>Payslips PDF</a:t>
            </a:r>
            <a:r>
              <a:rPr sz="1400">
                <a:solidFill>
                  <a:srgbClr val="14062B"/>
                </a:solidFill>
              </a:rPr>
              <a:t> produces one page per employee (Estonian </a:t>
            </a:r>
            <a:r>
              <a:rPr i="1" sz="1400">
                <a:solidFill>
                  <a:srgbClr val="14062B"/>
                </a:solidFill>
              </a:rPr>
              <a:t>palgaleht</a:t>
            </a:r>
            <a:r>
              <a:rPr sz="1400">
                <a:solidFill>
                  <a:srgbClr val="14062B"/>
                </a:solidFill>
              </a:rPr>
              <a:t>):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gross pay, or hourly rate × hours, and the work-time fraction;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II pillar, employee unemployment insurance, tax-free minimum used, income tax;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net pay, social tax with its base and any </a:t>
            </a:r>
            <a:r>
              <a:rPr b="1" sz="1400">
                <a:solidFill>
                  <a:srgbClr val="5B21B6"/>
                </a:solidFill>
              </a:rPr>
              <a:t>minimum top-up</a:t>
            </a:r>
            <a:r>
              <a:rPr sz="1400">
                <a:solidFill>
                  <a:srgbClr val="14062B"/>
                </a:solidFill>
              </a:rPr>
              <a:t>, employer unemployment insurance and total employer cost.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Submitting the TSD return to EMTA is not automated; the accountant files it.</a:t>
            </a:r>
          </a:p>
        </p:txBody>
      </p:sp>
      <p:pic>
        <p:nvPicPr>
          <p:cNvPr id="5" name="Picture 4" descr="20-payslip-pd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280160"/>
            <a:ext cx="3620654" cy="5120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73952"/>
            <a:ext cx="1146017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78"/>
                </a:solidFill>
              </a:rPr>
              <a:t>FastAccounts · User guide · v0.3.0 · 2026-10-09 · fastaccounts.org ·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185855" cy="53035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64008"/>
          <a:lstStyle/>
          <a:p>
            <a:pPr algn="ctr"/>
            <a:r>
              <a:rPr sz="2100" b="1">
                <a:solidFill>
                  <a:srgbClr val="FFFFFF"/>
                </a:solidFill>
              </a:rPr>
              <a:t>Payroll in the ledger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438912"/>
            <a:ext cx="73152" cy="5303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57607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Each approved run posts to the client's payroll accounts, for example: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</a:t>
            </a:r>
            <a:r>
              <a:rPr b="1" sz="1400">
                <a:solidFill>
                  <a:srgbClr val="5B21B6"/>
                </a:solidFill>
              </a:rPr>
              <a:t>6110</a:t>
            </a:r>
            <a:r>
              <a:rPr sz="1400">
                <a:solidFill>
                  <a:srgbClr val="14062B"/>
                </a:solidFill>
              </a:rPr>
              <a:t> salaries, </a:t>
            </a:r>
            <a:r>
              <a:rPr b="1" sz="1400">
                <a:solidFill>
                  <a:srgbClr val="5B21B6"/>
                </a:solidFill>
              </a:rPr>
              <a:t>6120</a:t>
            </a:r>
            <a:r>
              <a:rPr sz="1400">
                <a:solidFill>
                  <a:srgbClr val="14062B"/>
                </a:solidFill>
              </a:rPr>
              <a:t> social tax, </a:t>
            </a:r>
            <a:r>
              <a:rPr b="1" sz="1400">
                <a:solidFill>
                  <a:srgbClr val="5B21B6"/>
                </a:solidFill>
              </a:rPr>
              <a:t>6130</a:t>
            </a:r>
            <a:r>
              <a:rPr sz="1400">
                <a:solidFill>
                  <a:srgbClr val="14062B"/>
                </a:solidFill>
              </a:rPr>
              <a:t> employer unemployment insurance;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</a:t>
            </a:r>
            <a:r>
              <a:rPr b="1" sz="1400">
                <a:solidFill>
                  <a:srgbClr val="5B21B6"/>
                </a:solidFill>
              </a:rPr>
              <a:t>2210</a:t>
            </a:r>
            <a:r>
              <a:rPr sz="1400">
                <a:solidFill>
                  <a:srgbClr val="14062B"/>
                </a:solidFill>
              </a:rPr>
              <a:t> net pay owed, </a:t>
            </a:r>
            <a:r>
              <a:rPr b="1" sz="1400">
                <a:solidFill>
                  <a:srgbClr val="5B21B6"/>
                </a:solidFill>
              </a:rPr>
              <a:t>2220</a:t>
            </a:r>
            <a:r>
              <a:rPr sz="1400">
                <a:solidFill>
                  <a:srgbClr val="14062B"/>
                </a:solidFill>
              </a:rPr>
              <a:t> income tax withheld, </a:t>
            </a:r>
            <a:r>
              <a:rPr b="1" sz="1400">
                <a:solidFill>
                  <a:srgbClr val="5B21B6"/>
                </a:solidFill>
              </a:rPr>
              <a:t>2230</a:t>
            </a:r>
            <a:r>
              <a:rPr sz="1400">
                <a:solidFill>
                  <a:srgbClr val="14062B"/>
                </a:solidFill>
              </a:rPr>
              <a:t> pension and unemployment insurance, </a:t>
            </a:r>
            <a:r>
              <a:rPr b="1" sz="1400">
                <a:solidFill>
                  <a:srgbClr val="5B21B6"/>
                </a:solidFill>
              </a:rPr>
              <a:t>2240</a:t>
            </a:r>
            <a:r>
              <a:rPr sz="1400">
                <a:solidFill>
                  <a:srgbClr val="14062B"/>
                </a:solidFill>
              </a:rPr>
              <a:t> social tax payable.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The social tax minimum top-up is a separate line with its own description, so it is easy to explain to the client. Postings appear under their period end.</a:t>
            </a:r>
          </a:p>
        </p:txBody>
      </p:sp>
      <p:pic>
        <p:nvPicPr>
          <p:cNvPr id="5" name="Picture 4" descr="21-payroll-general-ledg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280160"/>
            <a:ext cx="5212080" cy="3619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73952"/>
            <a:ext cx="1146017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78"/>
                </a:solidFill>
              </a:rPr>
              <a:t>FastAccounts · User guide · v0.3.0 · 2026-10-09 · fastaccounts.org ·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185855" cy="53035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64008"/>
          <a:lstStyle/>
          <a:p>
            <a:pPr algn="ctr"/>
            <a:r>
              <a:rPr sz="2100" b="1">
                <a:solidFill>
                  <a:srgbClr val="FFFFFF"/>
                </a:solidFill>
              </a:rPr>
              <a:t>Social tax minimum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438912"/>
            <a:ext cx="73152" cy="5303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111858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Sources: Sotsiaalmaksuseadus § 2 lg 2–4; Rahandusministri määrus nr 17; EMTA "Sotsiaalmaks". Choose the matching </a:t>
            </a:r>
            <a:r>
              <a:rPr b="1" sz="1400">
                <a:solidFill>
                  <a:srgbClr val="5B21B6"/>
                </a:solidFill>
              </a:rPr>
              <a:t>Social tax minimum exemption</a:t>
            </a:r>
            <a:r>
              <a:rPr sz="1400">
                <a:solidFill>
                  <a:srgbClr val="14062B"/>
                </a:solidFill>
              </a:rPr>
              <a:t> on the employee; it is printed on the payslip.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92808"/>
          <a:ext cx="11185855" cy="4462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92927"/>
                <a:gridCol w="5592928"/>
              </a:tblGrid>
              <a:tr h="74371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Rule</a:t>
                      </a:r>
                    </a:p>
                  </a:txBody>
                  <a:tcPr marL="54864" marR="54864" marT="9144" marB="9144" anchor="ctr">
                    <a:solidFill>
                      <a:srgbClr val="5B21B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2026</a:t>
                      </a:r>
                    </a:p>
                  </a:txBody>
                  <a:tcPr marL="54864" marR="54864" marT="9144" marB="9144" anchor="ctr">
                    <a:solidFill>
                      <a:srgbClr val="5B21B6"/>
                    </a:solidFill>
                  </a:tcPr>
                </a:tc>
              </a:tr>
              <a:tr h="74371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062B"/>
                          </a:solidFill>
                        </a:rPr>
                        <a:t>Monthly minimum base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062B"/>
                          </a:solidFill>
                        </a:rPr>
                        <a:t>€886 → minimum social tax €292.38 per employee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74371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062B"/>
                          </a:solidFill>
                        </a:rPr>
                        <a:t>Who pays the shortfall</a:t>
                      </a:r>
                    </a:p>
                  </a:txBody>
                  <a:tcPr marL="54864" marR="54864" marT="9144" marB="9144" anchor="ctr">
                    <a:solidFill>
                      <a:srgbClr val="F3E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062B"/>
                          </a:solidFill>
                        </a:rPr>
                        <a:t>Employer, as an extra employer cost</a:t>
                      </a:r>
                    </a:p>
                  </a:txBody>
                  <a:tcPr marL="54864" marR="54864" marT="9144" marB="9144" anchor="ctr">
                    <a:solidFill>
                      <a:srgbClr val="F3E8FF"/>
                    </a:solidFill>
                  </a:tcPr>
                </a:tc>
              </a:tr>
              <a:tr h="74371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062B"/>
                          </a:solidFill>
                        </a:rPr>
                        <a:t>Part-month employment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062B"/>
                          </a:solidFill>
                        </a:rPr>
                        <a:t>Base pro-rated by calendar days employed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74371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062B"/>
                          </a:solidFill>
                        </a:rPr>
                        <a:t>Board-member fees</a:t>
                      </a:r>
                    </a:p>
                  </a:txBody>
                  <a:tcPr marL="54864" marR="54864" marT="9144" marB="9144" anchor="ctr">
                    <a:solidFill>
                      <a:srgbClr val="F3E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062B"/>
                          </a:solidFill>
                        </a:rPr>
                        <a:t>Outside the obligation</a:t>
                      </a:r>
                    </a:p>
                  </a:txBody>
                  <a:tcPr marL="54864" marR="54864" marT="9144" marB="9144" anchor="ctr">
                    <a:solidFill>
                      <a:srgbClr val="F3E8FF"/>
                    </a:solidFill>
                  </a:tcPr>
                </a:tc>
              </a:tr>
              <a:tr h="74371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062B"/>
                          </a:solidFill>
                        </a:rPr>
                        <a:t>Exemption recorded per employee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062B"/>
                          </a:solidFill>
                        </a:rPr>
                        <a:t>Pensioners, reduced work ability, child care, students, previously unemployed, shortened working time, council members, ship crew, foreign-service spouses, long-term sick leave, absent all month, another employer applies the exemption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6473952"/>
            <a:ext cx="1146017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78"/>
                </a:solidFill>
              </a:rPr>
              <a:t>FastAccounts · User guide · v0.3.0 · 2026-10-09 · fastaccounts.org ·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185855" cy="5943600"/>
          </a:xfrm>
          <a:prstGeom prst="rect">
            <a:avLst/>
          </a:prstGeom>
          <a:solidFill>
            <a:srgbClr val="140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38912"/>
            <a:ext cx="73152" cy="59436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114300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EDE9FE"/>
                </a:solidFill>
              </a:rPr>
              <a:t>SECTION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874519"/>
            <a:ext cx="1018001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</a:rPr>
              <a:t>Integrations and HR import</a:t>
            </a:r>
          </a:p>
          <a:p>
            <a:pPr>
              <a:spcBef>
                <a:spcPts val="1600"/>
              </a:spcBef>
            </a:pPr>
            <a:r>
              <a:rPr sz="1800">
                <a:solidFill>
                  <a:srgbClr val="EDE9FE"/>
                </a:solidFill>
              </a:rPr>
              <a:t>Connect each client's HR system once, then review every imported employee before payroll data changes.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73952"/>
            <a:ext cx="1146017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78"/>
                </a:solidFill>
              </a:rPr>
              <a:t>FastAccounts · User guide · v0.3.0 · 2026-10-09 · fastaccounts.org ·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185855" cy="53035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64008"/>
          <a:lstStyle/>
          <a:p>
            <a:pPr algn="ctr"/>
            <a:r>
              <a:rPr sz="2100" b="1">
                <a:solidFill>
                  <a:srgbClr val="FFFFFF"/>
                </a:solidFill>
              </a:rPr>
              <a:t>Integrations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438912"/>
            <a:ext cx="73152" cy="5303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57607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5B21B6"/>
                </a:solidFill>
              </a:rPr>
              <a:t>Integrations</a:t>
            </a:r>
            <a:r>
              <a:rPr sz="1400">
                <a:solidFill>
                  <a:srgbClr val="14062B"/>
                </a:solidFill>
              </a:rPr>
              <a:t> (under </a:t>
            </a:r>
            <a:r>
              <a:rPr b="1" sz="1400">
                <a:solidFill>
                  <a:srgbClr val="5B21B6"/>
                </a:solidFill>
              </a:rPr>
              <a:t>Settings</a:t>
            </a:r>
            <a:r>
              <a:rPr sz="1400">
                <a:solidFill>
                  <a:srgbClr val="14062B"/>
                </a:solidFill>
              </a:rPr>
              <a:t>) lists ready connectors first, with: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</a:t>
            </a:r>
            <a:r>
              <a:rPr b="1" sz="1400">
                <a:solidFill>
                  <a:srgbClr val="5B21B6"/>
                </a:solidFill>
              </a:rPr>
              <a:t>Registry status</a:t>
            </a:r>
            <a:r>
              <a:rPr sz="1400">
                <a:solidFill>
                  <a:srgbClr val="14062B"/>
                </a:solidFill>
              </a:rPr>
              <a:t> — what the adapter supports today;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</a:t>
            </a:r>
            <a:r>
              <a:rPr b="1" sz="1400">
                <a:solidFill>
                  <a:srgbClr val="5B21B6"/>
                </a:solidFill>
              </a:rPr>
              <a:t>Connection status</a:t>
            </a:r>
            <a:r>
              <a:rPr sz="1400">
                <a:solidFill>
                  <a:srgbClr val="14062B"/>
                </a:solidFill>
              </a:rPr>
              <a:t> — this client's connection.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5B21B6"/>
                </a:solidFill>
              </a:rPr>
              <a:t>Employee file import</a:t>
            </a:r>
            <a:r>
              <a:rPr sz="1400">
                <a:solidFill>
                  <a:srgbClr val="14062B"/>
                </a:solidFill>
              </a:rPr>
              <a:t> needs no connection; </a:t>
            </a:r>
            <a:r>
              <a:rPr b="1" sz="1400">
                <a:solidFill>
                  <a:srgbClr val="5B21B6"/>
                </a:solidFill>
              </a:rPr>
              <a:t>FastHR</a:t>
            </a:r>
            <a:r>
              <a:rPr sz="1400">
                <a:solidFill>
                  <a:srgbClr val="14062B"/>
                </a:solidFill>
              </a:rPr>
              <a:t>, </a:t>
            </a:r>
            <a:r>
              <a:rPr b="1" sz="1400">
                <a:solidFill>
                  <a:srgbClr val="5B21B6"/>
                </a:solidFill>
              </a:rPr>
              <a:t>QuickBooks Online</a:t>
            </a:r>
            <a:r>
              <a:rPr sz="1400">
                <a:solidFill>
                  <a:srgbClr val="14062B"/>
                </a:solidFill>
              </a:rPr>
              <a:t>, </a:t>
            </a:r>
            <a:r>
              <a:rPr b="1" sz="1400">
                <a:solidFill>
                  <a:srgbClr val="5B21B6"/>
                </a:solidFill>
              </a:rPr>
              <a:t>Xero</a:t>
            </a:r>
            <a:r>
              <a:rPr sz="1400">
                <a:solidFill>
                  <a:srgbClr val="14062B"/>
                </a:solidFill>
              </a:rPr>
              <a:t> and </a:t>
            </a:r>
            <a:r>
              <a:rPr b="1" sz="1400">
                <a:solidFill>
                  <a:srgbClr val="5B21B6"/>
                </a:solidFill>
              </a:rPr>
              <a:t>Merit Aktiva</a:t>
            </a:r>
            <a:r>
              <a:rPr sz="1400">
                <a:solidFill>
                  <a:srgbClr val="14062B"/>
                </a:solidFill>
              </a:rPr>
              <a:t> are ready to connect. Planned integrations are listed below; </a:t>
            </a:r>
            <a:r>
              <a:rPr b="1" sz="1400">
                <a:solidFill>
                  <a:srgbClr val="5B21B6"/>
                </a:solidFill>
              </a:rPr>
              <a:t>Public catalogue</a:t>
            </a:r>
            <a:r>
              <a:rPr sz="1400">
                <a:solidFill>
                  <a:srgbClr val="14062B"/>
                </a:solidFill>
              </a:rPr>
              <a:t> opens the full list on the public site.</a:t>
            </a:r>
          </a:p>
        </p:txBody>
      </p:sp>
      <p:pic>
        <p:nvPicPr>
          <p:cNvPr id="5" name="Picture 4" descr="22-integr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280160"/>
            <a:ext cx="5212080" cy="3619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73952"/>
            <a:ext cx="1146017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78"/>
                </a:solidFill>
              </a:rPr>
              <a:t>FastAccounts · User guide · v0.3.0 · 2026-10-09 · fastaccounts.org ·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185855" cy="53035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64008"/>
          <a:lstStyle/>
          <a:p>
            <a:pPr algn="ctr"/>
            <a:r>
              <a:rPr sz="2100" b="1">
                <a:solidFill>
                  <a:srgbClr val="FFFFFF"/>
                </a:solidFill>
              </a:rPr>
              <a:t>Connect FastHR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438912"/>
            <a:ext cx="73152" cy="5303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57607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Click </a:t>
            </a:r>
            <a:r>
              <a:rPr b="1" sz="1400">
                <a:solidFill>
                  <a:srgbClr val="5B21B6"/>
                </a:solidFill>
              </a:rPr>
              <a:t>Configure</a:t>
            </a:r>
            <a:r>
              <a:rPr sz="1400">
                <a:solidFill>
                  <a:srgbClr val="14062B"/>
                </a:solidFill>
              </a:rPr>
              <a:t> on the FastHR card.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Enter the </a:t>
            </a:r>
            <a:r>
              <a:rPr b="1" sz="1400">
                <a:solidFill>
                  <a:srgbClr val="5B21B6"/>
                </a:solidFill>
              </a:rPr>
              <a:t>Base URL</a:t>
            </a:r>
            <a:r>
              <a:rPr sz="1400">
                <a:solidFill>
                  <a:srgbClr val="14062B"/>
                </a:solidFill>
              </a:rPr>
              <a:t> and the client's </a:t>
            </a:r>
            <a:r>
              <a:rPr b="1" sz="1400">
                <a:solidFill>
                  <a:srgbClr val="5B21B6"/>
                </a:solidFill>
              </a:rPr>
              <a:t>API token</a:t>
            </a:r>
            <a:r>
              <a:rPr sz="1400">
                <a:solidFill>
                  <a:srgbClr val="14062B"/>
                </a:solidFill>
              </a:rPr>
              <a:t>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</a:t>
            </a:r>
            <a:r>
              <a:rPr b="1" sz="1400">
                <a:solidFill>
                  <a:srgbClr val="5B21B6"/>
                </a:solidFill>
              </a:rPr>
              <a:t>Save configuration</a:t>
            </a:r>
            <a:r>
              <a:rPr sz="1400">
                <a:solidFill>
                  <a:srgbClr val="14062B"/>
                </a:solidFill>
              </a:rPr>
              <a:t>, then </a:t>
            </a:r>
            <a:r>
              <a:rPr b="1" sz="1400">
                <a:solidFill>
                  <a:srgbClr val="5B21B6"/>
                </a:solidFill>
              </a:rPr>
              <a:t>Test connection</a:t>
            </a:r>
            <a:r>
              <a:rPr sz="1400">
                <a:solidFill>
                  <a:srgbClr val="14062B"/>
                </a:solidFill>
              </a:rPr>
              <a:t>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Secrets are encrypted per client and never shown again; enter a new token to replace one. </a:t>
            </a:r>
            <a:r>
              <a:rPr b="1" sz="1400">
                <a:solidFill>
                  <a:srgbClr val="5B21B6"/>
                </a:solidFill>
              </a:rPr>
              <a:t>Disconnect</a:t>
            </a:r>
            <a:r>
              <a:rPr sz="1400">
                <a:solidFill>
                  <a:srgbClr val="14062B"/>
                </a:solidFill>
              </a:rPr>
              <a:t> removes the connection; FastHR is read-only, so nothing is ever written back.</a:t>
            </a:r>
          </a:p>
        </p:txBody>
      </p:sp>
      <p:pic>
        <p:nvPicPr>
          <p:cNvPr id="5" name="Picture 4" descr="23-fasthr-config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280160"/>
            <a:ext cx="5212080" cy="3619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73952"/>
            <a:ext cx="1146017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78"/>
                </a:solidFill>
              </a:rPr>
              <a:t>FastAccounts · User guide · v0.3.0 · 2026-10-09 · fastaccounts.org ·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185855" cy="53035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64008"/>
          <a:lstStyle/>
          <a:p>
            <a:pPr algn="ctr"/>
            <a:r>
              <a:rPr sz="2100" b="1">
                <a:solidFill>
                  <a:srgbClr val="FFFFFF"/>
                </a:solidFill>
              </a:rPr>
              <a:t>Run an employee import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438912"/>
            <a:ext cx="73152" cy="5303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57607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5B21B6"/>
                </a:solidFill>
              </a:rPr>
              <a:t>Run employee import</a:t>
            </a:r>
            <a:r>
              <a:rPr sz="1400">
                <a:solidFill>
                  <a:srgbClr val="14062B"/>
                </a:solidFill>
              </a:rPr>
              <a:t> stages FastHR employees for review; nothing changes yet.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</a:t>
            </a:r>
            <a:r>
              <a:rPr b="1" sz="1400">
                <a:solidFill>
                  <a:srgbClr val="5B21B6"/>
                </a:solidFill>
              </a:rPr>
              <a:t>Matched employee</a:t>
            </a:r>
            <a:r>
              <a:rPr sz="1400">
                <a:solidFill>
                  <a:srgbClr val="14062B"/>
                </a:solidFill>
              </a:rPr>
              <a:t> links a record to an existing employee by e-mail or personal code.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FastHR's annual base salary becomes the monthly gross (÷ 12); its work-time ratio becomes the FTE; hourly staff become hourly pay.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A </a:t>
            </a:r>
            <a:r>
              <a:rPr b="1" sz="1400">
                <a:solidFill>
                  <a:srgbClr val="5B21B6"/>
                </a:solidFill>
              </a:rPr>
              <a:t>Review note</a:t>
            </a:r>
            <a:r>
              <a:rPr sz="1400">
                <a:solidFill>
                  <a:srgbClr val="14062B"/>
                </a:solidFill>
              </a:rPr>
              <a:t> warns when FastHR has no salary or hourly rate.</a:t>
            </a:r>
          </a:p>
        </p:txBody>
      </p:sp>
      <p:pic>
        <p:nvPicPr>
          <p:cNvPr id="5" name="Picture 4" descr="24-fasthr-import-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280160"/>
            <a:ext cx="5212080" cy="3619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73952"/>
            <a:ext cx="1146017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78"/>
                </a:solidFill>
              </a:rPr>
              <a:t>FastAccounts · User guide · v0.3.0 · 2026-10-09 · fastaccounts.org ·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185855" cy="53035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64008"/>
          <a:lstStyle/>
          <a:p>
            <a:pPr algn="ctr"/>
            <a:r>
              <a:rPr sz="2100" b="1">
                <a:solidFill>
                  <a:srgbClr val="FFFFFF"/>
                </a:solidFill>
              </a:rPr>
              <a:t>Apply decisions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438912"/>
            <a:ext cx="73152" cy="5303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57607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Tick </a:t>
            </a:r>
            <a:r>
              <a:rPr b="1" sz="1400">
                <a:solidFill>
                  <a:srgbClr val="5B21B6"/>
                </a:solidFill>
              </a:rPr>
              <a:t>Approve</a:t>
            </a:r>
            <a:r>
              <a:rPr sz="1400">
                <a:solidFill>
                  <a:srgbClr val="14062B"/>
                </a:solidFill>
              </a:rPr>
              <a:t> or </a:t>
            </a:r>
            <a:r>
              <a:rPr b="1" sz="1400">
                <a:solidFill>
                  <a:srgbClr val="5B21B6"/>
                </a:solidFill>
              </a:rPr>
              <a:t>Reject</a:t>
            </a:r>
            <a:r>
              <a:rPr sz="1400">
                <a:solidFill>
                  <a:srgbClr val="14062B"/>
                </a:solidFill>
              </a:rPr>
              <a:t> for each record.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</a:t>
            </a:r>
            <a:r>
              <a:rPr b="1" sz="1400">
                <a:solidFill>
                  <a:srgbClr val="5B21B6"/>
                </a:solidFill>
              </a:rPr>
              <a:t>Apply decisions</a:t>
            </a:r>
            <a:r>
              <a:rPr sz="1400">
                <a:solidFill>
                  <a:srgbClr val="14062B"/>
                </a:solidFill>
              </a:rPr>
              <a:t>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5B21B6"/>
                </a:solidFill>
              </a:rPr>
              <a:t>Import outcomes</a:t>
            </a:r>
            <a:r>
              <a:rPr sz="1400">
                <a:solidFill>
                  <a:srgbClr val="14062B"/>
                </a:solidFill>
              </a:rPr>
              <a:t> counts applied, updated, unchanged, rejected and failed records and lists the reasons. A record without pay is skipped, not guessed; fix it in FastHR and use </a:t>
            </a:r>
            <a:r>
              <a:rPr b="1" sz="1400">
                <a:solidFill>
                  <a:srgbClr val="5B21B6"/>
                </a:solidFill>
              </a:rPr>
              <a:t>Retry apply</a:t>
            </a:r>
            <a:r>
              <a:rPr sz="1400">
                <a:solidFill>
                  <a:srgbClr val="14062B"/>
                </a:solidFill>
              </a:rPr>
              <a:t>. </a:t>
            </a:r>
            <a:r>
              <a:rPr b="1" sz="1400">
                <a:solidFill>
                  <a:srgbClr val="5B21B6"/>
                </a:solidFill>
              </a:rPr>
              <a:t>Recent runs</a:t>
            </a:r>
            <a:r>
              <a:rPr sz="1400">
                <a:solidFill>
                  <a:srgbClr val="14062B"/>
                </a:solidFill>
              </a:rPr>
              <a:t> keeps the history.</a:t>
            </a:r>
          </a:p>
        </p:txBody>
      </p:sp>
      <p:pic>
        <p:nvPicPr>
          <p:cNvPr id="5" name="Picture 4" descr="25-fasthr-import-appli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280160"/>
            <a:ext cx="5212080" cy="3619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73952"/>
            <a:ext cx="1146017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78"/>
                </a:solidFill>
              </a:rPr>
              <a:t>FastAccounts · User guide · v0.3.0 · 2026-10-09 · fastaccounts.org ·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185855" cy="53035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64008"/>
          <a:lstStyle/>
          <a:p>
            <a:pPr algn="ctr"/>
            <a:r>
              <a:rPr sz="2100" b="1">
                <a:solidFill>
                  <a:srgbClr val="FFFFFF"/>
                </a:solidFill>
              </a:rPr>
              <a:t>Import an employee file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438912"/>
            <a:ext cx="73152" cy="5303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57607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For clients whose payroll or HR system has no connector, use a file export.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On the </a:t>
            </a:r>
            <a:r>
              <a:rPr b="1" sz="1400">
                <a:solidFill>
                  <a:srgbClr val="5B21B6"/>
                </a:solidFill>
              </a:rPr>
              <a:t>Employee file import</a:t>
            </a:r>
            <a:r>
              <a:rPr sz="1400">
                <a:solidFill>
                  <a:srgbClr val="14062B"/>
                </a:solidFill>
              </a:rPr>
              <a:t> card, click </a:t>
            </a:r>
            <a:r>
              <a:rPr b="1" sz="1400">
                <a:solidFill>
                  <a:srgbClr val="5B21B6"/>
                </a:solidFill>
              </a:rPr>
              <a:t>Import file</a:t>
            </a:r>
            <a:r>
              <a:rPr sz="1400">
                <a:solidFill>
                  <a:srgbClr val="14062B"/>
                </a:solidFill>
              </a:rPr>
              <a:t>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Choose a </a:t>
            </a:r>
            <a:r>
              <a:rPr b="1" sz="1400">
                <a:solidFill>
                  <a:srgbClr val="5B21B6"/>
                </a:solidFill>
              </a:rPr>
              <a:t>CSV or TSV file</a:t>
            </a:r>
            <a:r>
              <a:rPr sz="1400">
                <a:solidFill>
                  <a:srgbClr val="14062B"/>
                </a:solidFill>
              </a:rPr>
              <a:t>, or paste its contents.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</a:t>
            </a:r>
            <a:r>
              <a:rPr b="1" sz="1400">
                <a:solidFill>
                  <a:srgbClr val="5B21B6"/>
                </a:solidFill>
              </a:rPr>
              <a:t>Stage employees</a:t>
            </a:r>
            <a:r>
              <a:rPr sz="1400">
                <a:solidFill>
                  <a:srgbClr val="14062B"/>
                </a:solidFill>
              </a:rPr>
              <a:t>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Recognised headers include </a:t>
            </a:r>
            <a:r>
              <a:rPr i="1" sz="1400">
                <a:solidFill>
                  <a:srgbClr val="14062B"/>
                </a:solidFill>
              </a:rPr>
              <a:t>Employee ID</a:t>
            </a:r>
            <a:r>
              <a:rPr sz="1400">
                <a:solidFill>
                  <a:srgbClr val="14062B"/>
                </a:solidFill>
              </a:rPr>
              <a:t>, </a:t>
            </a:r>
            <a:r>
              <a:rPr i="1" sz="1400">
                <a:solidFill>
                  <a:srgbClr val="14062B"/>
                </a:solidFill>
              </a:rPr>
              <a:t>Name</a:t>
            </a:r>
            <a:r>
              <a:rPr sz="1400">
                <a:solidFill>
                  <a:srgbClr val="14062B"/>
                </a:solidFill>
              </a:rPr>
              <a:t>, </a:t>
            </a:r>
            <a:r>
              <a:rPr i="1" sz="1400">
                <a:solidFill>
                  <a:srgbClr val="14062B"/>
                </a:solidFill>
              </a:rPr>
              <a:t>Email</a:t>
            </a:r>
            <a:r>
              <a:rPr sz="1400">
                <a:solidFill>
                  <a:srgbClr val="14062B"/>
                </a:solidFill>
              </a:rPr>
              <a:t>, </a:t>
            </a:r>
            <a:r>
              <a:rPr i="1" sz="1400">
                <a:solidFill>
                  <a:srgbClr val="14062B"/>
                </a:solidFill>
              </a:rPr>
              <a:t>Salary</a:t>
            </a:r>
            <a:r>
              <a:rPr sz="1400">
                <a:solidFill>
                  <a:srgbClr val="14062B"/>
                </a:solidFill>
              </a:rPr>
              <a:t> (monthly), </a:t>
            </a:r>
            <a:r>
              <a:rPr i="1" sz="1400">
                <a:solidFill>
                  <a:srgbClr val="14062B"/>
                </a:solidFill>
              </a:rPr>
              <a:t>Personal ID</a:t>
            </a:r>
            <a:r>
              <a:rPr sz="1400">
                <a:solidFill>
                  <a:srgbClr val="14062B"/>
                </a:solidFill>
              </a:rPr>
              <a:t> and </a:t>
            </a:r>
            <a:r>
              <a:rPr i="1" sz="1400">
                <a:solidFill>
                  <a:srgbClr val="14062B"/>
                </a:solidFill>
              </a:rPr>
              <a:t>Status</a:t>
            </a:r>
            <a:r>
              <a:rPr sz="1400">
                <a:solidFill>
                  <a:srgbClr val="14062B"/>
                </a:solidFill>
              </a:rPr>
              <a:t>, also in Estonian (</a:t>
            </a:r>
            <a:r>
              <a:rPr i="1" sz="1400">
                <a:solidFill>
                  <a:srgbClr val="14062B"/>
                </a:solidFill>
              </a:rPr>
              <a:t>Nimi</a:t>
            </a:r>
            <a:r>
              <a:rPr sz="1400">
                <a:solidFill>
                  <a:srgbClr val="14062B"/>
                </a:solidFill>
              </a:rPr>
              <a:t>, </a:t>
            </a:r>
            <a:r>
              <a:rPr i="1" sz="1400">
                <a:solidFill>
                  <a:srgbClr val="14062B"/>
                </a:solidFill>
              </a:rPr>
              <a:t>E-post</a:t>
            </a:r>
            <a:r>
              <a:rPr sz="1400">
                <a:solidFill>
                  <a:srgbClr val="14062B"/>
                </a:solidFill>
              </a:rPr>
              <a:t>, </a:t>
            </a:r>
            <a:r>
              <a:rPr i="1" sz="1400">
                <a:solidFill>
                  <a:srgbClr val="14062B"/>
                </a:solidFill>
              </a:rPr>
              <a:t>Palk</a:t>
            </a:r>
            <a:r>
              <a:rPr sz="1400">
                <a:solidFill>
                  <a:srgbClr val="14062B"/>
                </a:solidFill>
              </a:rPr>
              <a:t>, </a:t>
            </a:r>
            <a:r>
              <a:rPr i="1" sz="1400">
                <a:solidFill>
                  <a:srgbClr val="14062B"/>
                </a:solidFill>
              </a:rPr>
              <a:t>Isikukood</a:t>
            </a:r>
            <a:r>
              <a:rPr sz="1400">
                <a:solidFill>
                  <a:srgbClr val="14062B"/>
                </a:solidFill>
              </a:rPr>
              <a:t>). Export Excel workbooks as CSV first. The raw file is not stored.</a:t>
            </a:r>
          </a:p>
        </p:txBody>
      </p:sp>
      <p:pic>
        <p:nvPicPr>
          <p:cNvPr id="5" name="Picture 4" descr="26-file-import-dia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280160"/>
            <a:ext cx="5212080" cy="3619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73952"/>
            <a:ext cx="1146017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78"/>
                </a:solidFill>
              </a:rPr>
              <a:t>FastAccounts · User guide · v0.3.0 · 2026-10-09 · fastaccounts.org ·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185855" cy="53035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64008"/>
          <a:lstStyle/>
          <a:p>
            <a:pPr algn="ctr"/>
            <a:r>
              <a:rPr sz="2100" b="1">
                <a:solidFill>
                  <a:srgbClr val="FFFFFF"/>
                </a:solidFill>
              </a:rPr>
              <a:t>Review a file import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438912"/>
            <a:ext cx="73152" cy="5303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57607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A file import uses the same review as FastHR: each row is staged as </a:t>
            </a:r>
            <a:r>
              <a:rPr b="1" sz="1400">
                <a:solidFill>
                  <a:srgbClr val="5B21B6"/>
                </a:solidFill>
              </a:rPr>
              <a:t>Pending</a:t>
            </a:r>
            <a:r>
              <a:rPr sz="1400">
                <a:solidFill>
                  <a:srgbClr val="14062B"/>
                </a:solidFill>
              </a:rPr>
              <a:t>, matched to existing employees by e-mail or personal ID, and changes nothing until you </a:t>
            </a:r>
            <a:r>
              <a:rPr b="1" sz="1400">
                <a:solidFill>
                  <a:srgbClr val="5B21B6"/>
                </a:solidFill>
              </a:rPr>
              <a:t>Approve</a:t>
            </a:r>
            <a:r>
              <a:rPr sz="1400">
                <a:solidFill>
                  <a:srgbClr val="14062B"/>
                </a:solidFill>
              </a:rPr>
              <a:t> it and </a:t>
            </a:r>
            <a:r>
              <a:rPr b="1" sz="1400">
                <a:solidFill>
                  <a:srgbClr val="5B21B6"/>
                </a:solidFill>
              </a:rPr>
              <a:t>Apply decisions</a:t>
            </a:r>
            <a:r>
              <a:rPr sz="1400">
                <a:solidFill>
                  <a:srgbClr val="14062B"/>
                </a:solidFill>
              </a:rPr>
              <a:t>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Re-importing the same file is safe: unchanged rows are reported as </a:t>
            </a:r>
            <a:r>
              <a:rPr b="1" sz="1400">
                <a:solidFill>
                  <a:srgbClr val="5B21B6"/>
                </a:solidFill>
              </a:rPr>
              <a:t>Unchanged</a:t>
            </a:r>
            <a:r>
              <a:rPr sz="1400">
                <a:solidFill>
                  <a:srgbClr val="14062B"/>
                </a:solidFill>
              </a:rPr>
              <a:t> instead of creating duplicates. </a:t>
            </a:r>
            <a:r>
              <a:rPr b="1" sz="1400">
                <a:solidFill>
                  <a:srgbClr val="5B21B6"/>
                </a:solidFill>
              </a:rPr>
              <a:t>Recent runs</a:t>
            </a:r>
            <a:r>
              <a:rPr sz="1400">
                <a:solidFill>
                  <a:srgbClr val="14062B"/>
                </a:solidFill>
              </a:rPr>
              <a:t> lists earlier file imports for this client.</a:t>
            </a:r>
          </a:p>
        </p:txBody>
      </p:sp>
      <p:pic>
        <p:nvPicPr>
          <p:cNvPr id="5" name="Picture 4" descr="27-file-import-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280160"/>
            <a:ext cx="5212080" cy="3619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73952"/>
            <a:ext cx="1146017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78"/>
                </a:solidFill>
              </a:rPr>
              <a:t>FastAccounts · User guide · v0.3.0 · 2026-10-09 · fastaccounts.org ·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185855" cy="53035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64008"/>
          <a:lstStyle/>
          <a:p>
            <a:pPr algn="ctr"/>
            <a:r>
              <a:rPr sz="2100" b="1">
                <a:solidFill>
                  <a:srgbClr val="FFFFFF"/>
                </a:solidFill>
              </a:rPr>
              <a:t>Imported employees in payroll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438912"/>
            <a:ext cx="73152" cy="5303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57607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Approved records appear in </a:t>
            </a:r>
            <a:r>
              <a:rPr b="1" sz="1400">
                <a:solidFill>
                  <a:srgbClr val="5B21B6"/>
                </a:solidFill>
              </a:rPr>
              <a:t>Payroll</a:t>
            </a:r>
            <a:r>
              <a:rPr sz="1400">
                <a:solidFill>
                  <a:srgbClr val="14062B"/>
                </a:solidFill>
              </a:rPr>
              <a:t> like any other employee: here </a:t>
            </a:r>
            <a:r>
              <a:rPr b="1" sz="1400">
                <a:solidFill>
                  <a:srgbClr val="5B21B6"/>
                </a:solidFill>
              </a:rPr>
              <a:t>Eva Näidis</a:t>
            </a:r>
            <a:r>
              <a:rPr sz="1400">
                <a:solidFill>
                  <a:srgbClr val="14062B"/>
                </a:solidFill>
              </a:rPr>
              <a:t> (part-time 0.6, €1,200.00 a month from €14,400 a year) and </a:t>
            </a:r>
            <a:r>
              <a:rPr b="1" sz="1400">
                <a:solidFill>
                  <a:srgbClr val="5B21B6"/>
                </a:solidFill>
              </a:rPr>
              <a:t>Rein Proov</a:t>
            </a:r>
            <a:r>
              <a:rPr sz="1400">
                <a:solidFill>
                  <a:srgbClr val="14062B"/>
                </a:solidFill>
              </a:rPr>
              <a:t> (hourly, €7.50).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Before the next pay run, complete what FastHR does not hold: II pillar rate, basic exemption application and any social tax minimum exemption.</a:t>
            </a:r>
          </a:p>
        </p:txBody>
      </p:sp>
      <p:pic>
        <p:nvPicPr>
          <p:cNvPr id="5" name="Picture 4" descr="28-payroll-after-im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280160"/>
            <a:ext cx="5212080" cy="3619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73952"/>
            <a:ext cx="1146017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78"/>
                </a:solidFill>
              </a:rPr>
              <a:t>FastAccounts · User guide · v0.3.0 · 2026-10-09 · fastaccounts.org ·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185855" cy="5943600"/>
          </a:xfrm>
          <a:prstGeom prst="rect">
            <a:avLst/>
          </a:prstGeom>
          <a:solidFill>
            <a:srgbClr val="140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38912"/>
            <a:ext cx="73152" cy="59436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114300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EDE9FE"/>
                </a:solidFill>
              </a:rPr>
              <a:t>SECTION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874519"/>
            <a:ext cx="1018001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</a:rPr>
              <a:t>Reference</a:t>
            </a:r>
          </a:p>
          <a:p>
            <a:pPr>
              <a:spcBef>
                <a:spcPts val="1600"/>
              </a:spcBef>
            </a:pPr>
            <a:r>
              <a:rPr sz="1800">
                <a:solidFill>
                  <a:srgbClr val="EDE9FE"/>
                </a:solidFill>
              </a:rPr>
              <a:t>2026 Estonian payroll rates, what FastAccounts does not do, and where to find help.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73952"/>
            <a:ext cx="1146017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78"/>
                </a:solidFill>
              </a:rPr>
              <a:t>FastAccounts · User guide · v0.3.0 · 2026-10-09 · fastaccounts.org ·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185855" cy="53035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64008"/>
          <a:lstStyle/>
          <a:p>
            <a:pPr algn="ctr"/>
            <a:r>
              <a:rPr sz="2100" b="1">
                <a:solidFill>
                  <a:srgbClr val="FFFFFF"/>
                </a:solidFill>
              </a:rPr>
              <a:t>Estonian payroll rates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438912"/>
            <a:ext cx="73152" cy="5303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111858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Sources: EMTA "Maksumäärad"; Vabariigi Valitsuse määrus nr 36 (23.03.2026). Money is calculated with exact decimals and rounded half-up to cents.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92808"/>
          <a:ext cx="11185855" cy="4462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92927"/>
                <a:gridCol w="5592928"/>
              </a:tblGrid>
              <a:tr h="55778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Item</a:t>
                      </a:r>
                    </a:p>
                  </a:txBody>
                  <a:tcPr marL="54864" marR="54864" marT="9144" marB="9144" anchor="ctr">
                    <a:solidFill>
                      <a:srgbClr val="5B21B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Rate or amount</a:t>
                      </a:r>
                    </a:p>
                  </a:txBody>
                  <a:tcPr marL="54864" marR="54864" marT="9144" marB="9144" anchor="ctr">
                    <a:solidFill>
                      <a:srgbClr val="5B21B6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062B"/>
                          </a:solidFill>
                        </a:rPr>
                        <a:t>Income tax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062B"/>
                          </a:solidFill>
                        </a:rPr>
                        <a:t>22%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062B"/>
                          </a:solidFill>
                        </a:rPr>
                        <a:t>Basic exemption (on written application)</a:t>
                      </a:r>
                    </a:p>
                  </a:txBody>
                  <a:tcPr marL="54864" marR="54864" marT="9144" marB="9144" anchor="ctr">
                    <a:solidFill>
                      <a:srgbClr val="F3E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062B"/>
                          </a:solidFill>
                        </a:rPr>
                        <a:t>€700 per month</a:t>
                      </a:r>
                    </a:p>
                  </a:txBody>
                  <a:tcPr marL="54864" marR="54864" marT="9144" marB="9144" anchor="ctr">
                    <a:solidFill>
                      <a:srgbClr val="F3E8FF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062B"/>
                          </a:solidFill>
                        </a:rPr>
                        <a:t>Social tax (employer)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062B"/>
                          </a:solidFill>
                        </a:rPr>
                        <a:t>33%, minimum base €886 per month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062B"/>
                          </a:solidFill>
                        </a:rPr>
                        <a:t>Unemployment insurance</a:t>
                      </a:r>
                    </a:p>
                  </a:txBody>
                  <a:tcPr marL="54864" marR="54864" marT="9144" marB="9144" anchor="ctr">
                    <a:solidFill>
                      <a:srgbClr val="F3E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062B"/>
                          </a:solidFill>
                        </a:rPr>
                        <a:t>employee 1.6%, employer 0.8%</a:t>
                      </a:r>
                    </a:p>
                  </a:txBody>
                  <a:tcPr marL="54864" marR="54864" marT="9144" marB="9144" anchor="ctr">
                    <a:solidFill>
                      <a:srgbClr val="F3E8FF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062B"/>
                          </a:solidFill>
                        </a:rPr>
                        <a:t>Funded pension (II pillar)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062B"/>
                          </a:solidFill>
                        </a:rPr>
                        <a:t>0%, 2%, 4% or 6%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062B"/>
                          </a:solidFill>
                        </a:rPr>
                        <a:t>Minimum wage until 31.03.2026</a:t>
                      </a:r>
                    </a:p>
                  </a:txBody>
                  <a:tcPr marL="54864" marR="54864" marT="9144" marB="9144" anchor="ctr">
                    <a:solidFill>
                      <a:srgbClr val="F3E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062B"/>
                          </a:solidFill>
                        </a:rPr>
                        <a:t>€886 per month, €5.31 per hour</a:t>
                      </a:r>
                    </a:p>
                  </a:txBody>
                  <a:tcPr marL="54864" marR="54864" marT="9144" marB="9144" anchor="ctr">
                    <a:solidFill>
                      <a:srgbClr val="F3E8FF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062B"/>
                          </a:solidFill>
                        </a:rPr>
                        <a:t>Minimum wage from 01.04.2026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062B"/>
                          </a:solidFill>
                        </a:rPr>
                        <a:t>€946 per month, €5.67 per hour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6473952"/>
            <a:ext cx="1146017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78"/>
                </a:solidFill>
              </a:rPr>
              <a:t>FastAccounts · User guide · v0.3.0 · 2026-10-09 · fastaccounts.org ·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185855" cy="53035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64008"/>
          <a:lstStyle/>
          <a:p>
            <a:pPr algn="ctr"/>
            <a:r>
              <a:rPr sz="2100" b="1">
                <a:solidFill>
                  <a:srgbClr val="FFFFFF"/>
                </a:solidFill>
              </a:rPr>
              <a:t>Limits and 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438912"/>
            <a:ext cx="73152" cy="5303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11185855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</a:t>
            </a:r>
            <a:r>
              <a:rPr b="1" sz="1400">
                <a:solidFill>
                  <a:srgbClr val="5B21B6"/>
                </a:solidFill>
              </a:rPr>
              <a:t>Filing</a:t>
            </a:r>
            <a:r>
              <a:rPr sz="1400">
                <a:solidFill>
                  <a:srgbClr val="14062B"/>
                </a:solidFill>
              </a:rPr>
              <a:t>: KMD and VD workpapers are prepared for accountant review and exported; nothing is filed with EMTA or HMRC automatically.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</a:t>
            </a:r>
            <a:r>
              <a:rPr b="1" sz="1400">
                <a:solidFill>
                  <a:srgbClr val="5B21B6"/>
                </a:solidFill>
              </a:rPr>
              <a:t>E-mail</a:t>
            </a:r>
            <a:r>
              <a:rPr sz="1400">
                <a:solidFill>
                  <a:srgbClr val="14062B"/>
                </a:solidFill>
              </a:rPr>
              <a:t>: reminders and auto-e-mailed invoices need Postmark settings.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</a:t>
            </a:r>
            <a:r>
              <a:rPr b="1" sz="1400">
                <a:solidFill>
                  <a:srgbClr val="5B21B6"/>
                </a:solidFill>
              </a:rPr>
              <a:t>Payroll</a:t>
            </a:r>
            <a:r>
              <a:rPr sz="1400">
                <a:solidFill>
                  <a:srgbClr val="14062B"/>
                </a:solidFill>
              </a:rPr>
              <a:t>: Estonian EUR books and 2026 periods only. Leave, sickness, benefits, non-resident cases, TSD submission and salary payments are outside the calculation; accountant UAT is pending (</a:t>
            </a:r>
            <a:r>
              <a:rPr sz="1400">
                <a:solidFill>
                  <a:srgbClr val="5B21B6"/>
                </a:solidFill>
                <a:latin typeface="Consolas"/>
              </a:rPr>
              <a:t>docs/payroll_rules.md</a:t>
            </a:r>
            <a:r>
              <a:rPr sz="1400">
                <a:solidFill>
                  <a:srgbClr val="14062B"/>
                </a:solidFill>
              </a:rPr>
              <a:t>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</a:t>
            </a:r>
            <a:r>
              <a:rPr b="1" sz="1400">
                <a:solidFill>
                  <a:srgbClr val="5B21B6"/>
                </a:solidFill>
              </a:rPr>
              <a:t>Imports</a:t>
            </a:r>
            <a:r>
              <a:rPr sz="1400">
                <a:solidFill>
                  <a:srgbClr val="14062B"/>
                </a:solidFill>
              </a:rPr>
              <a:t>: FastHR imports employee master data, not hours or leave.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Release notes are in </a:t>
            </a:r>
            <a:r>
              <a:rPr sz="1400">
                <a:solidFill>
                  <a:srgbClr val="5B21B6"/>
                </a:solidFill>
                <a:latin typeface="Consolas"/>
              </a:rPr>
              <a:t>docs/change_log.md</a:t>
            </a:r>
            <a:r>
              <a:rPr sz="1400">
                <a:solidFill>
                  <a:srgbClr val="14062B"/>
                </a:solidFill>
              </a:rPr>
              <a:t>; rebuild this guide with </a:t>
            </a:r>
            <a:r>
              <a:rPr sz="1400">
                <a:solidFill>
                  <a:srgbClr val="5B21B6"/>
                </a:solidFill>
                <a:latin typeface="Consolas"/>
              </a:rPr>
              <a:t>docs/USER_GUIDE_BUILD.md</a:t>
            </a:r>
            <a:r>
              <a:rPr sz="1400">
                <a:solidFill>
                  <a:srgbClr val="14062B"/>
                </a:solidFill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1146017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78"/>
                </a:solidFill>
              </a:rPr>
              <a:t>FastAccounts · User guide · v0.3.0 · 2026-10-09 · fastaccounts.org · 40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