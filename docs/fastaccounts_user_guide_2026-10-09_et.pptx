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FastAccounts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EDE9FE"/>
                </a:solidFill>
              </a:rPr>
              <a:t>Kasutusjuhend — klientide raamatupidamine ja palgaarvestus raamatupidamisbüroole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EDE9FE"/>
                </a:solidFill>
              </a:rPr>
              <a:t>Arved, pangandus, pearaamat, käibemaks ja Eesti palgaarvestus ühes büroo töölauas.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EDE9FE"/>
                </a:solidFill>
              </a:rPr>
              <a:t>Näidisettevõtted: Põhjatäht Teenused OÜ, Northstar Studio Ltd ja Demo OÜ (sample payroll)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EDE9FE"/>
                </a:solidFill>
              </a:rPr>
              <a:t>v0.4.0 · 9. oktoober 2026 · Kohalik näidisväljaanne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Sisukord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Ekraanipildid on tehtud kohalikus keskkonnas sünteetiliste näidisandmetega. Nimed, isikukoodid, IBAN-id ja e-posti aadressid on testandmed, mitte päris inimesed ega ettevõtted. FastHR-i import kasutab FastHR-i API simulatsiooni.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92808"/>
          <a:ext cx="11185853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8322"/>
                <a:gridCol w="1789736"/>
                <a:gridCol w="6487795"/>
              </a:tblGrid>
              <a:tr h="637467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Peatükk</a:t>
                      </a:r>
                    </a:p>
                  </a:txBody>
                  <a:tcPr marL="54864" marR="54864" marT="9144" marB="9144" anchor="ctr"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Lehed / slaidid</a:t>
                      </a:r>
                    </a:p>
                  </a:txBody>
                  <a:tcPr marL="54864" marR="54864" marT="9144" marB="9144" anchor="ctr"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Mida teete</a:t>
                      </a:r>
                    </a:p>
                  </a:txBody>
                  <a:tcPr marL="54864" marR="54864" marT="9144" marB="9144" anchor="ctr">
                    <a:solidFill>
                      <a:srgbClr val="5B21B6"/>
                    </a:solidFill>
                  </a:tcPr>
                </a:tc>
              </a:tr>
              <a:tr h="637467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5B21B6"/>
                          </a:solidFill>
                        </a:rPr>
                        <a:t>01 · Alustamine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3–11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Logite sisse Google'i või e-postiga, loote konto, lähtestate parooli, vahetate klientide raamatupidamist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637467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5B21B6"/>
                          </a:solidFill>
                        </a:rPr>
                        <a:t>02 · Müük, ost ja automatiseerimine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12–18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Müügiarved, ostuarved, kontaktid, korduvad arved ja meeldetuletused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</a:tr>
              <a:tr h="637467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5B21B6"/>
                          </a:solidFill>
                        </a:rPr>
                        <a:t>03 · Pangandus, raamatupidamine ja maksud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19–22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Pangatehingute sidumine, aruanded, KMD töölehed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637467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5B21B6"/>
                          </a:solidFill>
                        </a:rPr>
                        <a:t>04 · Palgaarvestus raamatupidamisbüroole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23–32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Osakoormus, tunnitasu, juhatuse liikme tasu, sotsiaalmaksu miinimumkohustus, palgaarvestused, palgalehed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</a:tr>
              <a:tr h="637467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5B21B6"/>
                          </a:solidFill>
                        </a:rPr>
                        <a:t>05 · Liidestused ja töötajate import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33–40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FastHR-i ühendamine või CSV-import ja töötajate ülevaatus enne palgaandmete muutmist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63747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5B21B6"/>
                          </a:solidFill>
                        </a:rPr>
                        <a:t>06 · Viited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41–43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2026. aasta määrad, erandid ja piirangud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943600"/>
          </a:xfrm>
          <a:prstGeom prst="rect">
            <a:avLst/>
          </a:prstGeom>
          <a:solidFill>
            <a:srgbClr val="140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943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143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DE9FE"/>
                </a:solidFill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1800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Alustamine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EDE9FE"/>
                </a:solidFill>
              </a:rPr>
              <a:t>Üks töölaud kõigile klientidele: vahetage klienti külgmenüüst, hoidke iga kliendi pearaamat eraldi ning töötage eesti või inglise keeles.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Avalik veebileht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fastaccounts.org</a:t>
            </a:r>
            <a:r>
              <a:rPr sz="1400">
                <a:solidFill>
                  <a:srgbClr val="14062B"/>
                </a:solidFill>
              </a:rPr>
              <a:t> tutvustab toodet Eesti ja Ühendkuningriigi ettevõtetele.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Nupud </a:t>
            </a:r>
            <a:r>
              <a:rPr b="1" sz="1400">
                <a:solidFill>
                  <a:srgbClr val="5B21B6"/>
                </a:solidFill>
              </a:rPr>
              <a:t>Alusta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Logi sisse</a:t>
            </a:r>
            <a:r>
              <a:rPr sz="1400">
                <a:solidFill>
                  <a:srgbClr val="14062B"/>
                </a:solidFill>
              </a:rPr>
              <a:t> viivad töölauale.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Liidestused</a:t>
            </a:r>
            <a:r>
              <a:rPr sz="1400">
                <a:solidFill>
                  <a:srgbClr val="14062B"/>
                </a:solidFill>
              </a:rPr>
              <a:t> näitab iga liidestust koos selle tegeliku olekuga.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Hinnad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Miks FastAccounts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Raamatupidajatele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Tegevuskava</a:t>
            </a:r>
            <a:r>
              <a:rPr sz="1400">
                <a:solidFill>
                  <a:srgbClr val="14062B"/>
                </a:solidFill>
              </a:rPr>
              <a:t> kirjeldavad pakkumist.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Keele saab valida ülemise riba keelenupust (EE / GB); valik jäetakse meelde.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Jaluses olev versiooni link avab lehe </a:t>
            </a:r>
            <a:r>
              <a:rPr sz="1400">
                <a:solidFill>
                  <a:srgbClr val="5B21B6"/>
                </a:solidFill>
                <a:latin typeface="Consolas"/>
              </a:rPr>
              <a:t>/healthz</a:t>
            </a:r>
            <a:r>
              <a:rPr sz="1400">
                <a:solidFill>
                  <a:srgbClr val="14062B"/>
                </a:solidFill>
              </a:rPr>
              <a:t>, mis näitab töötavat versiooni ja andmebaasi olekut.</a:t>
            </a:r>
          </a:p>
        </p:txBody>
      </p:sp>
      <p:pic>
        <p:nvPicPr>
          <p:cNvPr id="5" name="Picture 4" descr="01-public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Sisselogimine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Avage </a:t>
            </a:r>
            <a:r>
              <a:rPr b="1" sz="1400">
                <a:solidFill>
                  <a:srgbClr val="5B21B6"/>
                </a:solidFill>
              </a:rPr>
              <a:t>Logi sisse</a:t>
            </a:r>
            <a:r>
              <a:rPr sz="1400">
                <a:solidFill>
                  <a:srgbClr val="14062B"/>
                </a:solidFill>
              </a:rPr>
              <a:t> ja valige </a:t>
            </a:r>
            <a:r>
              <a:rPr b="1" sz="1400">
                <a:solidFill>
                  <a:srgbClr val="5B21B6"/>
                </a:solidFill>
              </a:rPr>
              <a:t>Jätka Google'iga</a:t>
            </a:r>
            <a:r>
              <a:rPr sz="1400">
                <a:solidFill>
                  <a:srgbClr val="14062B"/>
                </a:solidFill>
              </a:rPr>
              <a:t> või sisestage </a:t>
            </a:r>
            <a:r>
              <a:rPr b="1" sz="1400">
                <a:solidFill>
                  <a:srgbClr val="5B21B6"/>
                </a:solidFill>
              </a:rPr>
              <a:t>E-post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Parool</a:t>
            </a:r>
            <a:r>
              <a:rPr sz="1400">
                <a:solidFill>
                  <a:srgbClr val="14062B"/>
                </a:solidFill>
              </a:rPr>
              <a:t> ning valige </a:t>
            </a:r>
            <a:r>
              <a:rPr b="1" sz="1400">
                <a:solidFill>
                  <a:srgbClr val="5B21B6"/>
                </a:solidFill>
              </a:rPr>
              <a:t>Logi sisse e-postiga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Kasutage aadressi, mille büroo kutsus või lubas; mõlemad viisid avavad sama konto, nii et Google'i kasutaja saab määrata ka parooli.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Töölaud avaneb </a:t>
            </a:r>
            <a:r>
              <a:rPr b="1" sz="1400">
                <a:solidFill>
                  <a:srgbClr val="5B21B6"/>
                </a:solidFill>
              </a:rPr>
              <a:t>Ülevaate</a:t>
            </a:r>
            <a:r>
              <a:rPr sz="1400">
                <a:solidFill>
                  <a:srgbClr val="14062B"/>
                </a:solidFill>
              </a:rPr>
              <a:t> vaatega.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Selles kohalikus näidiskeskkonnas pole Google'i sisselogimist seadistatud ja nupp ütleb seda; tootmiskeskkonnas on mõlemad võimalused olemas.</a:t>
            </a:r>
          </a:p>
        </p:txBody>
      </p:sp>
      <p:pic>
        <p:nvPicPr>
          <p:cNvPr id="5" name="Picture 4" descr="02-sign-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Konto loomine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Avage sisselogimislehel vahekaart </a:t>
            </a:r>
            <a:r>
              <a:rPr b="1" sz="1400">
                <a:solidFill>
                  <a:srgbClr val="5B21B6"/>
                </a:solidFill>
              </a:rPr>
              <a:t>Loo konto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Sisestage </a:t>
            </a:r>
            <a:r>
              <a:rPr b="1" sz="1400">
                <a:solidFill>
                  <a:srgbClr val="5B21B6"/>
                </a:solidFill>
              </a:rPr>
              <a:t>Nimi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E-post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Parool (vähemalt 10 märki)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Valige </a:t>
            </a:r>
            <a:r>
              <a:rPr b="1" sz="1400">
                <a:solidFill>
                  <a:srgbClr val="5B21B6"/>
                </a:solidFill>
              </a:rPr>
              <a:t>Loo konto</a:t>
            </a:r>
            <a:r>
              <a:rPr sz="1400">
                <a:solidFill>
                  <a:srgbClr val="14062B"/>
                </a:solidFill>
              </a:rPr>
              <a:t> ja avage e-kirjaga saadetud kinnituslink.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Sisestage sama parool ja valige </a:t>
            </a:r>
            <a:r>
              <a:rPr b="1" sz="1400">
                <a:solidFill>
                  <a:srgbClr val="5B21B6"/>
                </a:solidFill>
              </a:rPr>
              <a:t>Kinnita e-post</a:t>
            </a:r>
            <a:r>
              <a:rPr sz="1400">
                <a:solidFill>
                  <a:srgbClr val="14062B"/>
                </a:solidFill>
              </a:rPr>
              <a:t>; töölaud avaneb.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Ligipääsuks on endiselt vaja kutset või lubatud aadressi. Teade pärast registreerimist on sama sõltumata sellest, kas aadressi saab registreerida.</a:t>
            </a:r>
          </a:p>
        </p:txBody>
      </p:sp>
      <p:pic>
        <p:nvPicPr>
          <p:cNvPr id="5" name="Picture 4" descr="29-create-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Unustatud parool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Valige paroolivälja all </a:t>
            </a:r>
            <a:r>
              <a:rPr b="1" sz="1400">
                <a:solidFill>
                  <a:srgbClr val="5B21B6"/>
                </a:solidFill>
              </a:rPr>
              <a:t>Unustasid parooli?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Sisestage </a:t>
            </a:r>
            <a:r>
              <a:rPr b="1" sz="1400">
                <a:solidFill>
                  <a:srgbClr val="5B21B6"/>
                </a:solidFill>
              </a:rPr>
              <a:t>E-post</a:t>
            </a:r>
            <a:r>
              <a:rPr sz="1400">
                <a:solidFill>
                  <a:srgbClr val="14062B"/>
                </a:solidFill>
              </a:rPr>
              <a:t> ja valige </a:t>
            </a:r>
            <a:r>
              <a:rPr b="1" sz="1400">
                <a:solidFill>
                  <a:srgbClr val="5B21B6"/>
                </a:solidFill>
              </a:rPr>
              <a:t>Saada lähtestamise link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Avage e-kirjas olev link ühe tunni jooksul; see töötab ühe korra.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Nii saab ka Google'i kasutaja endale parooli lisada. Korduvad katsed peatatakse kontode kaitseks mõneks ajaks.</a:t>
            </a:r>
          </a:p>
        </p:txBody>
      </p:sp>
      <p:pic>
        <p:nvPicPr>
          <p:cNvPr id="5" name="Picture 4" descr="30-forgot-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Uue parooli valimine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Sisestage </a:t>
            </a:r>
            <a:r>
              <a:rPr b="1" sz="1400">
                <a:solidFill>
                  <a:srgbClr val="5B21B6"/>
                </a:solidFill>
              </a:rPr>
              <a:t>Uus parool (vähemalt 10 märki)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Valige </a:t>
            </a:r>
            <a:r>
              <a:rPr b="1" sz="1400">
                <a:solidFill>
                  <a:srgbClr val="5B21B6"/>
                </a:solidFill>
              </a:rPr>
              <a:t>Määra uus parool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Logige uue parooliga uuesti sisse.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Parooli muutmine logib konto välja kõigist teistest brauseritest.</a:t>
            </a:r>
          </a:p>
        </p:txBody>
      </p:sp>
      <p:pic>
        <p:nvPicPr>
          <p:cNvPr id="5" name="Picture 4" descr="31-reset-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Büroo ülevaade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Ülevaade</a:t>
            </a:r>
            <a:r>
              <a:rPr sz="1400">
                <a:solidFill>
                  <a:srgbClr val="14062B"/>
                </a:solidFill>
              </a:rPr>
              <a:t> koondab valitud kliendi raamatupidamise: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Nõuded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Kohustused</a:t>
            </a:r>
            <a:r>
              <a:rPr sz="1400">
                <a:solidFill>
                  <a:srgbClr val="14062B"/>
                </a:solidFill>
              </a:rPr>
              <a:t> — tasumata müügiarved ja kinnitatud ostuarved.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Pangatehingute ülevaatus</a:t>
            </a:r>
            <a:r>
              <a:rPr sz="1400">
                <a:solidFill>
                  <a:srgbClr val="14062B"/>
                </a:solidFill>
              </a:rPr>
              <a:t> — sidumist ootavad pangaread.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Selle kuu palgaarvestus</a:t>
            </a:r>
            <a:r>
              <a:rPr sz="1400">
                <a:solidFill>
                  <a:srgbClr val="14062B"/>
                </a:solidFill>
              </a:rPr>
              <a:t> — kavandatud ja kinnitatud palgaarvestuste tööandja kulu.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Klientide raamatupidamine</a:t>
            </a:r>
            <a:r>
              <a:rPr sz="1400">
                <a:solidFill>
                  <a:srgbClr val="14062B"/>
                </a:solidFill>
              </a:rPr>
              <a:t> loetleb kõik teile kättesaadavad ettevõtted ja nende nõuded. Graafik võrdleb viimase kuue kuu arveldatud tulu ja panga netoliikumist. </a:t>
            </a:r>
            <a:r>
              <a:rPr b="1" sz="1400">
                <a:solidFill>
                  <a:srgbClr val="5B21B6"/>
                </a:solidFill>
              </a:rPr>
              <a:t>Uus müügiarve</a:t>
            </a:r>
            <a:r>
              <a:rPr sz="1400">
                <a:solidFill>
                  <a:srgbClr val="14062B"/>
                </a:solidFill>
              </a:rPr>
              <a:t> alustab kohe uut arvet.</a:t>
            </a:r>
          </a:p>
        </p:txBody>
      </p:sp>
      <p:pic>
        <p:nvPicPr>
          <p:cNvPr id="5" name="Picture 4" descr="03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Klientide vahetamine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Iga klient on eraldi ettevõte oma kontoplaani, dokumentide, pangakontode, palgaarvestuse ja liidestustega.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Klõpsake külgmenüü ülaosas ettevõtte kaarti.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Valige klient; riigitähis (EE / UK) näitab rakenduvaid reegleid.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Lisa ettevõte</a:t>
            </a:r>
            <a:r>
              <a:rPr sz="1400">
                <a:solidFill>
                  <a:srgbClr val="14062B"/>
                </a:solidFill>
              </a:rPr>
              <a:t> loob uue kliendi raamatupidamise.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Palgaarvestus on saadaval ainult eurodes peetava raamatupidamisega Eesti ettevõtetele; teiste klientide puhul on menüüpunkt </a:t>
            </a:r>
            <a:r>
              <a:rPr b="1" sz="1400">
                <a:solidFill>
                  <a:srgbClr val="5B21B6"/>
                </a:solidFill>
              </a:rPr>
              <a:t>Palgaarvestus</a:t>
            </a:r>
            <a:r>
              <a:rPr sz="1400">
                <a:solidFill>
                  <a:srgbClr val="14062B"/>
                </a:solidFill>
              </a:rPr>
              <a:t> hall ja selgitusega.</a:t>
            </a:r>
          </a:p>
        </p:txBody>
      </p:sp>
      <p:pic>
        <p:nvPicPr>
          <p:cNvPr id="5" name="Picture 4" descr="04-organisation-swit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Töölaua keel ja versioon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English / Eesti</a:t>
            </a:r>
            <a:r>
              <a:rPr sz="1400">
                <a:solidFill>
                  <a:srgbClr val="14062B"/>
                </a:solidFill>
              </a:rPr>
              <a:t> ülemisel ribal vahetab kõik sildid, teated ja veateated. Valik jääb järgmiseks korraks meelde. Eesti palgalehed on alati eesti keeles.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Logo all olev versioonimärk (</a:t>
            </a:r>
            <a:r>
              <a:rPr sz="1400">
                <a:solidFill>
                  <a:srgbClr val="5B21B6"/>
                </a:solidFill>
                <a:latin typeface="Consolas"/>
              </a:rPr>
              <a:t>v0.4.0 · 2026-10-09</a:t>
            </a:r>
            <a:r>
              <a:rPr sz="1400">
                <a:solidFill>
                  <a:srgbClr val="14062B"/>
                </a:solidFill>
              </a:rPr>
              <a:t>) näitab kasutatavat versiooni; klõps avab seisukontrolli.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Avalik veebileht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Logi välja</a:t>
            </a:r>
            <a:r>
              <a:rPr sz="1400">
                <a:solidFill>
                  <a:srgbClr val="14062B"/>
                </a:solidFill>
              </a:rPr>
              <a:t> asuvad külgmenüü allosas.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Kitsal ekraanil peitub külgmenüü nupu </a:t>
            </a:r>
            <a:r>
              <a:rPr b="1" sz="1400">
                <a:solidFill>
                  <a:srgbClr val="5B21B6"/>
                </a:solidFill>
              </a:rPr>
              <a:t>☰</a:t>
            </a:r>
            <a:r>
              <a:rPr sz="1400">
                <a:solidFill>
                  <a:srgbClr val="14062B"/>
                </a:solidFill>
              </a:rPr>
              <a:t> taha.</a:t>
            </a:r>
          </a:p>
        </p:txBody>
      </p:sp>
      <p:pic>
        <p:nvPicPr>
          <p:cNvPr id="5" name="Picture 4" descr="03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943600"/>
          </a:xfrm>
          <a:prstGeom prst="rect">
            <a:avLst/>
          </a:prstGeom>
          <a:solidFill>
            <a:srgbClr val="140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943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143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DE9FE"/>
                </a:solidFill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1800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Müük, ost ja automatiseerimine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EDE9FE"/>
                </a:solidFill>
              </a:rPr>
              <a:t>Koostage müügiarveid, vaadake üle ostuarved ning laske korduvatel arvetel ja meeldetuletustel rutiinne töö ära teha.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Müügiarved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Müügiarved</a:t>
            </a:r>
            <a:r>
              <a:rPr sz="1400">
                <a:solidFill>
                  <a:srgbClr val="14062B"/>
                </a:solidFill>
              </a:rPr>
              <a:t> näitab iga arvet koos olekuga: </a:t>
            </a:r>
            <a:r>
              <a:rPr b="1" sz="1400">
                <a:solidFill>
                  <a:srgbClr val="5B21B6"/>
                </a:solidFill>
              </a:rPr>
              <a:t>Kavand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Väljastatud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Osaliselt makstud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Makstud</a:t>
            </a:r>
            <a:r>
              <a:rPr sz="1400">
                <a:solidFill>
                  <a:srgbClr val="14062B"/>
                </a:solidFill>
              </a:rPr>
              <a:t> või </a:t>
            </a:r>
            <a:r>
              <a:rPr b="1" sz="1400">
                <a:solidFill>
                  <a:srgbClr val="5B21B6"/>
                </a:solidFill>
              </a:rPr>
              <a:t>Tähtaja ületanud</a:t>
            </a:r>
            <a:r>
              <a:rPr sz="1400">
                <a:solidFill>
                  <a:srgbClr val="14062B"/>
                </a:solidFill>
              </a:rPr>
              <a:t>. Filtreerige nimekirja kohal olevate sakkidega.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PDF</a:t>
            </a:r>
            <a:r>
              <a:rPr sz="1400">
                <a:solidFill>
                  <a:srgbClr val="14062B"/>
                </a:solidFill>
              </a:rPr>
              <a:t> laadib arve alla; </a:t>
            </a:r>
            <a:r>
              <a:rPr b="1" sz="1400">
                <a:solidFill>
                  <a:srgbClr val="5B21B6"/>
                </a:solidFill>
              </a:rPr>
              <a:t>XML</a:t>
            </a:r>
            <a:r>
              <a:rPr sz="1400">
                <a:solidFill>
                  <a:srgbClr val="14062B"/>
                </a:solidFill>
              </a:rPr>
              <a:t> laadib selle struktureeritud XML-failina.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Kavandit saab muuta, väljastada või kustutada. Väljastatud arvet muuta ei saa ja see kirjendatakse pearaamatusse.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Nupuga </a:t>
            </a:r>
            <a:r>
              <a:rPr b="1" sz="1400">
                <a:solidFill>
                  <a:srgbClr val="5B21B6"/>
                </a:solidFill>
              </a:rPr>
              <a:t>Uus kontakt</a:t>
            </a:r>
            <a:r>
              <a:rPr sz="1400">
                <a:solidFill>
                  <a:srgbClr val="14062B"/>
                </a:solidFill>
              </a:rPr>
              <a:t> lisate kliendi lehelt lahkumata.</a:t>
            </a:r>
          </a:p>
        </p:txBody>
      </p:sp>
      <p:pic>
        <p:nvPicPr>
          <p:cNvPr id="5" name="Picture 4" descr="05-invo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Arve koostamine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Klõpsake </a:t>
            </a:r>
            <a:r>
              <a:rPr b="1" sz="1400">
                <a:solidFill>
                  <a:srgbClr val="5B21B6"/>
                </a:solidFill>
              </a:rPr>
              <a:t>Uus müügiarve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Valige </a:t>
            </a:r>
            <a:r>
              <a:rPr b="1" sz="1400">
                <a:solidFill>
                  <a:srgbClr val="5B21B6"/>
                </a:solidFill>
              </a:rPr>
              <a:t>Klient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Arve kuupäev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Maksetähtaeg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Sisestage </a:t>
            </a:r>
            <a:r>
              <a:rPr b="1" sz="1400">
                <a:solidFill>
                  <a:srgbClr val="5B21B6"/>
                </a:solidFill>
              </a:rPr>
              <a:t>Kirjeldus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Kogus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Ühikuhind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Valige </a:t>
            </a:r>
            <a:r>
              <a:rPr b="1" sz="1400">
                <a:solidFill>
                  <a:srgbClr val="5B21B6"/>
                </a:solidFill>
              </a:rPr>
              <a:t>Tulukonto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Maksukood</a:t>
            </a:r>
            <a:r>
              <a:rPr sz="1400">
                <a:solidFill>
                  <a:srgbClr val="14062B"/>
                </a:solidFill>
              </a:rPr>
              <a:t> (näiteks EE24 – 24%).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Loo kavand</a:t>
            </a:r>
            <a:r>
              <a:rPr sz="1400">
                <a:solidFill>
                  <a:srgbClr val="14062B"/>
                </a:solidFill>
              </a:rPr>
              <a:t>, kontrollige seda ja seejärel </a:t>
            </a:r>
            <a:r>
              <a:rPr b="1" sz="1400">
                <a:solidFill>
                  <a:srgbClr val="5B21B6"/>
                </a:solidFill>
              </a:rPr>
              <a:t>Väljasta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Käibemaks arvutatakse iga rea kohta täpsete kümnendarvudega ja kirjendatakse arve väljastamisel kliendi käibemaksukontodele.</a:t>
            </a:r>
          </a:p>
        </p:txBody>
      </p:sp>
      <p:pic>
        <p:nvPicPr>
          <p:cNvPr id="5" name="Picture 4" descr="06-new-in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Ostuarved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Ostuarved</a:t>
            </a:r>
            <a:r>
              <a:rPr sz="1400">
                <a:solidFill>
                  <a:srgbClr val="14062B"/>
                </a:solidFill>
              </a:rPr>
              <a:t> hoiab tarnijate dokumente enne pearaamatusse jõudmist.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Olekud: </a:t>
            </a:r>
            <a:r>
              <a:rPr b="1" sz="1400">
                <a:solidFill>
                  <a:srgbClr val="5B21B6"/>
                </a:solidFill>
              </a:rPr>
              <a:t>Ülevaatamisel → Kinnitatud → Osaliselt makstud → Makstud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Kinnita</a:t>
            </a:r>
            <a:r>
              <a:rPr sz="1400">
                <a:solidFill>
                  <a:srgbClr val="14062B"/>
                </a:solidFill>
              </a:rPr>
              <a:t> kirjendab arve; ülevaatusel olev arve pearaamatusse ei jõua.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Uus ostuarve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Uus tarnija</a:t>
            </a:r>
            <a:r>
              <a:rPr sz="1400">
                <a:solidFill>
                  <a:srgbClr val="14062B"/>
                </a:solidFill>
              </a:rPr>
              <a:t> lisavad dokumente ja tehingupartnereid.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Kasutage ülevaatust kõige jaoks, mida raamatupidaja peab enne kontrollima, näiteks pöördmaksustamine või mahaarvamisele mittekuuluv käibemaks.</a:t>
            </a:r>
          </a:p>
        </p:txBody>
      </p:sp>
      <p:pic>
        <p:nvPicPr>
          <p:cNvPr id="5" name="Picture 4" descr="07-b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Kontaktid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Kontaktid</a:t>
            </a:r>
            <a:r>
              <a:rPr sz="1400">
                <a:solidFill>
                  <a:srgbClr val="14062B"/>
                </a:solidFill>
              </a:rPr>
              <a:t> hoiab iga kliendi ostjaid ja tarnijaid koos liigi, e-posti, riigi ja KMKR-numbriga. Filtreerige liigi järgi: ostja, tarnija või mõlemad.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Kontakte kasutavad müügi- ja ostuarved, pangatehingute sidumine ja korduvad arved, seega hoidke e-posti aadressid ajakohased: meeldetuletused saadetakse sinna.</a:t>
            </a:r>
          </a:p>
        </p:txBody>
      </p:sp>
      <p:pic>
        <p:nvPicPr>
          <p:cNvPr id="5" name="Picture 4" descr="08-cont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Korduvad arved ja meeldetuletused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Korduvad ja meeldetuletused</a:t>
            </a:r>
            <a:r>
              <a:rPr sz="1400">
                <a:solidFill>
                  <a:srgbClr val="14062B"/>
                </a:solidFill>
              </a:rPr>
              <a:t> näitab korduvate arvete graafikuid ja meeldetuletuste astmeid.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Graafik kopeerib aluseks võetud arve </a:t>
            </a:r>
            <a:r>
              <a:rPr b="1" sz="1400">
                <a:solidFill>
                  <a:srgbClr val="5B21B6"/>
                </a:solidFill>
              </a:rPr>
              <a:t>igal nädalal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igal kuul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igas kvartalis</a:t>
            </a:r>
            <a:r>
              <a:rPr sz="1400">
                <a:solidFill>
                  <a:srgbClr val="14062B"/>
                </a:solidFill>
              </a:rPr>
              <a:t> või </a:t>
            </a:r>
            <a:r>
              <a:rPr i="1" sz="1400">
                <a:solidFill>
                  <a:srgbClr val="14062B"/>
                </a:solidFill>
              </a:rPr>
              <a:t>n</a:t>
            </a:r>
            <a:r>
              <a:rPr sz="1400">
                <a:solidFill>
                  <a:srgbClr val="14062B"/>
                </a:solidFill>
              </a:rPr>
              <a:t> päeva järel. </a:t>
            </a:r>
            <a:r>
              <a:rPr b="1" sz="1400">
                <a:solidFill>
                  <a:srgbClr val="5B21B6"/>
                </a:solidFill>
              </a:rPr>
              <a:t>Koosta arve kohe</a:t>
            </a:r>
            <a:r>
              <a:rPr sz="1400">
                <a:solidFill>
                  <a:srgbClr val="14062B"/>
                </a:solidFill>
              </a:rPr>
              <a:t> muutub aktiivseks järgmise koostamise kuupäeval; </a:t>
            </a:r>
            <a:r>
              <a:rPr b="1" sz="1400">
                <a:solidFill>
                  <a:srgbClr val="5B21B6"/>
                </a:solidFill>
              </a:rPr>
              <a:t>Peata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Ajalugu</a:t>
            </a:r>
            <a:r>
              <a:rPr sz="1400">
                <a:solidFill>
                  <a:srgbClr val="14062B"/>
                </a:solidFill>
              </a:rPr>
              <a:t> haldavad graafikut.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Saatmist ootavad meeldetuletused</a:t>
            </a:r>
            <a:r>
              <a:rPr sz="1400">
                <a:solidFill>
                  <a:srgbClr val="14062B"/>
                </a:solidFill>
              </a:rPr>
              <a:t>: 3 päeva enne tähtaega, 7 ja 14 päeva pärast tähtaega. Valige </a:t>
            </a:r>
            <a:r>
              <a:rPr b="1" sz="1400">
                <a:solidFill>
                  <a:srgbClr val="5B21B6"/>
                </a:solidFill>
              </a:rPr>
              <a:t>Saada meeldetuletus</a:t>
            </a:r>
            <a:r>
              <a:rPr sz="1400">
                <a:solidFill>
                  <a:srgbClr val="14062B"/>
                </a:solidFill>
              </a:rPr>
              <a:t> või </a:t>
            </a:r>
            <a:r>
              <a:rPr b="1" sz="1400">
                <a:solidFill>
                  <a:srgbClr val="5B21B6"/>
                </a:solidFill>
              </a:rPr>
              <a:t>Jäta vahele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E-kirjade saatmiseks on vaja seadistusi </a:t>
            </a:r>
            <a:r>
              <a:rPr sz="1400">
                <a:solidFill>
                  <a:srgbClr val="5B21B6"/>
                </a:solidFill>
                <a:latin typeface="Consolas"/>
              </a:rPr>
              <a:t>POSTMARK_API_TOKEN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sz="1400">
                <a:solidFill>
                  <a:srgbClr val="5B21B6"/>
                </a:solidFill>
                <a:latin typeface="Consolas"/>
              </a:rPr>
              <a:t>FROM_EMAIL</a:t>
            </a:r>
            <a:r>
              <a:rPr sz="1400">
                <a:solidFill>
                  <a:srgbClr val="14062B"/>
                </a:solidFill>
              </a:rPr>
              <a:t>; seni teatab leht sellest ja midagi ei saadeta.</a:t>
            </a:r>
          </a:p>
        </p:txBody>
      </p:sp>
      <p:pic>
        <p:nvPicPr>
          <p:cNvPr id="5" name="Picture 4" descr="09-recurring-remin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Korduva arve loomine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Koostage ja salvestage arvekavand, mida kasutada väljal </a:t>
            </a:r>
            <a:r>
              <a:rPr b="1" sz="1400">
                <a:solidFill>
                  <a:srgbClr val="5B21B6"/>
                </a:solidFill>
              </a:rPr>
              <a:t>Aluseks võetav arve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Klõpsake </a:t>
            </a:r>
            <a:r>
              <a:rPr b="1" sz="1400">
                <a:solidFill>
                  <a:srgbClr val="5B21B6"/>
                </a:solidFill>
              </a:rPr>
              <a:t>Uus korduv arve</a:t>
            </a:r>
            <a:r>
              <a:rPr sz="1400">
                <a:solidFill>
                  <a:srgbClr val="14062B"/>
                </a:solidFill>
              </a:rPr>
              <a:t> ja sisestage </a:t>
            </a:r>
            <a:r>
              <a:rPr b="1" sz="1400">
                <a:solidFill>
                  <a:srgbClr val="5B21B6"/>
                </a:solidFill>
              </a:rPr>
              <a:t>Nimi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Valige </a:t>
            </a:r>
            <a:r>
              <a:rPr b="1" sz="1400">
                <a:solidFill>
                  <a:srgbClr val="5B21B6"/>
                </a:solidFill>
              </a:rPr>
              <a:t>Kordumise sagedus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Järgmine arve</a:t>
            </a:r>
            <a:r>
              <a:rPr sz="1400">
                <a:solidFill>
                  <a:srgbClr val="14062B"/>
                </a:solidFill>
              </a:rPr>
              <a:t> ja soovi korral </a:t>
            </a:r>
            <a:r>
              <a:rPr b="1" sz="1400">
                <a:solidFill>
                  <a:srgbClr val="5B21B6"/>
                </a:solidFill>
              </a:rPr>
              <a:t>Lõppkuupäev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Märkige </a:t>
            </a:r>
            <a:r>
              <a:rPr b="1" sz="1400">
                <a:solidFill>
                  <a:srgbClr val="5B21B6"/>
                </a:solidFill>
              </a:rPr>
              <a:t>Saada automaatselt e-postiga</a:t>
            </a:r>
            <a:r>
              <a:rPr sz="1400">
                <a:solidFill>
                  <a:srgbClr val="14062B"/>
                </a:solidFill>
              </a:rPr>
              <a:t>, et iga uus arve saadetaks kohe.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Loo korduv arve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Iga koostamine loob mallist tavalise arve, nii et numeratsioon, käibemaks ja kirjendamine järgivad samu reegleid nagu käsitsi koostatud arvetel.</a:t>
            </a:r>
          </a:p>
        </p:txBody>
      </p:sp>
      <p:pic>
        <p:nvPicPr>
          <p:cNvPr id="5" name="Picture 4" descr="10-new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943600"/>
          </a:xfrm>
          <a:prstGeom prst="rect">
            <a:avLst/>
          </a:prstGeom>
          <a:solidFill>
            <a:srgbClr val="140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943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143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DE9FE"/>
                </a:solidFill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1800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Pangandus, raamatupidamine ja maksud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EDE9FE"/>
                </a:solidFill>
              </a:rPr>
              <a:t>Siduge pangaread dokumentidega, lugege pearaamatut ja koostage käibemaksu töölehed raamatupidaja ülevaatuseks.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Pangandus ja sidumine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Pangandus</a:t>
            </a:r>
            <a:r>
              <a:rPr sz="1400">
                <a:solidFill>
                  <a:srgbClr val="14062B"/>
                </a:solidFill>
              </a:rPr>
              <a:t> näitab iga pangakontot ja selle imporditud tehinguid.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Impordi väljavõte</a:t>
            </a:r>
            <a:r>
              <a:rPr sz="1400">
                <a:solidFill>
                  <a:srgbClr val="14062B"/>
                </a:solidFill>
              </a:rPr>
              <a:t> (CSV või CAMT.053 XML).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Iga sidumata rea juures on põhjendatud vastete soovitused; klõpsake </a:t>
            </a:r>
            <a:r>
              <a:rPr b="1" sz="1400">
                <a:solidFill>
                  <a:srgbClr val="5B21B6"/>
                </a:solidFill>
              </a:rPr>
              <a:t>Vaata üle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Kinnita vaste</a:t>
            </a:r>
            <a:r>
              <a:rPr sz="1400">
                <a:solidFill>
                  <a:srgbClr val="14062B"/>
                </a:solidFill>
              </a:rPr>
              <a:t>, et jaotada makse müügi- või ostuarvetele.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Lisa konto</a:t>
            </a:r>
            <a:r>
              <a:rPr sz="1400">
                <a:solidFill>
                  <a:srgbClr val="14062B"/>
                </a:solidFill>
              </a:rPr>
              <a:t> registreerib kliendile uue pangakonto. Kinnitatud vaste kirjendab makse ja uuendab arvete olekuid.</a:t>
            </a:r>
          </a:p>
        </p:txBody>
      </p:sp>
      <p:pic>
        <p:nvPicPr>
          <p:cNvPr id="5" name="Picture 4" descr="11-b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Raamatupidamise aruanded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Raamatupidamine</a:t>
            </a:r>
            <a:r>
              <a:rPr sz="1400">
                <a:solidFill>
                  <a:srgbClr val="14062B"/>
                </a:solidFill>
              </a:rPr>
              <a:t> koostab aruanded muutumatust ja tasakaalus pearaamatust: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Proovibilanss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Kasumiaruanne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Bilanss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Pearaamat</a:t>
            </a:r>
            <a:r>
              <a:rPr sz="1400">
                <a:solidFill>
                  <a:srgbClr val="14062B"/>
                </a:solidFill>
              </a:rPr>
              <a:t> kõigi kannete ja viidetega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Nõuete vanusanalüüs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Kohustuste vanusanalüüs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Rahavoolu kokkuvõte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Valige </a:t>
            </a:r>
            <a:r>
              <a:rPr b="1" sz="1400">
                <a:solidFill>
                  <a:srgbClr val="5B21B6"/>
                </a:solidFill>
              </a:rPr>
              <a:t>Alates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Kuni</a:t>
            </a:r>
            <a:r>
              <a:rPr sz="1400">
                <a:solidFill>
                  <a:srgbClr val="14062B"/>
                </a:solidFill>
              </a:rPr>
              <a:t>, klõpsake </a:t>
            </a:r>
            <a:r>
              <a:rPr b="1" sz="1400">
                <a:solidFill>
                  <a:srgbClr val="5B21B6"/>
                </a:solidFill>
              </a:rPr>
              <a:t>Rakenda</a:t>
            </a:r>
            <a:r>
              <a:rPr sz="1400">
                <a:solidFill>
                  <a:srgbClr val="14062B"/>
                </a:solidFill>
              </a:rPr>
              <a:t> ning kasutage kliendi toimiku jaoks nuppu </a:t>
            </a:r>
            <a:r>
              <a:rPr b="1" sz="1400">
                <a:solidFill>
                  <a:srgbClr val="5B21B6"/>
                </a:solidFill>
              </a:rPr>
              <a:t>Prindi / salvesta PDF</a:t>
            </a:r>
            <a:r>
              <a:rPr sz="1400">
                <a:solidFill>
                  <a:srgbClr val="14062B"/>
                </a:solidFill>
              </a:rPr>
              <a:t>. Kandeid ei muudeta; parandused tehakse uute kannetena.</a:t>
            </a:r>
          </a:p>
        </p:txBody>
      </p:sp>
      <p:pic>
        <p:nvPicPr>
          <p:cNvPr id="5" name="Picture 4" descr="12-accounting-trial-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Käibedeklaratsiooni (KMD) töölehed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Maksud</a:t>
            </a:r>
            <a:r>
              <a:rPr sz="1400">
                <a:solidFill>
                  <a:srgbClr val="14062B"/>
                </a:solidFill>
              </a:rPr>
              <a:t> koostab Eesti </a:t>
            </a:r>
            <a:r>
              <a:rPr b="1" sz="1400">
                <a:solidFill>
                  <a:srgbClr val="5B21B6"/>
                </a:solidFill>
              </a:rPr>
              <a:t>KMD</a:t>
            </a:r>
            <a:r>
              <a:rPr sz="1400">
                <a:solidFill>
                  <a:srgbClr val="14062B"/>
                </a:solidFill>
              </a:rPr>
              <a:t> (Ühendkuningriigi ettevõtetele VAT-deklaratsiooni).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Koosta tööleht</a:t>
            </a:r>
            <a:r>
              <a:rPr sz="1400">
                <a:solidFill>
                  <a:srgbClr val="14062B"/>
                </a:solidFill>
              </a:rPr>
              <a:t> valitud perioodi kohta.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Kontrollige lahtreid loetletud maksukoodide järgi.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Enne eksporti </a:t>
            </a:r>
            <a:r>
              <a:rPr b="1" sz="1400">
                <a:solidFill>
                  <a:srgbClr val="5B21B6"/>
                </a:solidFill>
              </a:rPr>
              <a:t>Märgi raamatupidaja poolt ülevaadatuks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Koosta VD</a:t>
            </a:r>
            <a:r>
              <a:rPr sz="1400">
                <a:solidFill>
                  <a:srgbClr val="14062B"/>
                </a:solidFill>
              </a:rPr>
              <a:t> koostab ühendusesisese käibe aruande. Eksport nõuab raamatupidaja ülevaatust; FastAccounts ei esita deklaratsioone otse EMTA-le ega HMRC-le.</a:t>
            </a:r>
          </a:p>
        </p:txBody>
      </p:sp>
      <p:pic>
        <p:nvPicPr>
          <p:cNvPr id="5" name="Picture 4" descr="13-tax-k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943600"/>
          </a:xfrm>
          <a:prstGeom prst="rect">
            <a:avLst/>
          </a:prstGeom>
          <a:solidFill>
            <a:srgbClr val="140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943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143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DE9FE"/>
                </a:solidFill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1800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Palgaarvestus raamatupidamisbüroole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EDE9FE"/>
                </a:solidFill>
              </a:rPr>
              <a:t>Eesti 2026. aasta palgaarvestus iga kliendi kohta: kuupalk, osakoormus, tunnitasu ja juhatuse liikme tasu, sotsiaalmaksu miinimumkohustus, palgalehed ja automaatsed kanded.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Töötajad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Avage eurodes peetava raamatupidamisega Eesti kliendi (siin </a:t>
            </a:r>
            <a:r>
              <a:rPr b="1" sz="1400">
                <a:solidFill>
                  <a:srgbClr val="5B21B6"/>
                </a:solidFill>
              </a:rPr>
              <a:t>Demo OÜ (sample payroll)</a:t>
            </a:r>
            <a:r>
              <a:rPr sz="1400">
                <a:solidFill>
                  <a:srgbClr val="14062B"/>
                </a:solidFill>
              </a:rPr>
              <a:t>) </a:t>
            </a:r>
            <a:r>
              <a:rPr b="1" sz="1400">
                <a:solidFill>
                  <a:srgbClr val="5B21B6"/>
                </a:solidFill>
              </a:rPr>
              <a:t>Palgaarvestus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Brutotöötasu veerg näitab kuupalka või </a:t>
            </a:r>
            <a:r>
              <a:rPr b="1" sz="1400">
                <a:solidFill>
                  <a:srgbClr val="5B21B6"/>
                </a:solidFill>
              </a:rPr>
              <a:t>tunnitasu tunni kohta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Osakoormusega töötajal on märge (</a:t>
            </a:r>
            <a:r>
              <a:rPr b="1" sz="1400">
                <a:solidFill>
                  <a:srgbClr val="5B21B6"/>
                </a:solidFill>
              </a:rPr>
              <a:t>Osakoormus 0.5</a:t>
            </a:r>
            <a:r>
              <a:rPr sz="1400">
                <a:solidFill>
                  <a:srgbClr val="14062B"/>
                </a:solidFill>
              </a:rPr>
              <a:t>); juhatuse liikmel silt </a:t>
            </a:r>
            <a:r>
              <a:rPr b="1" sz="1400">
                <a:solidFill>
                  <a:srgbClr val="5B21B6"/>
                </a:solidFill>
              </a:rPr>
              <a:t>Juhatuse liige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Kogumispensioni määr</a:t>
            </a:r>
            <a:r>
              <a:rPr sz="1400">
                <a:solidFill>
                  <a:srgbClr val="14062B"/>
                </a:solidFill>
              </a:rPr>
              <a:t> on II samba määr (0, 2, 4 või 6%).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Maksuvaba tulu veerg näitab, kes rakendab siin 700-eurost maksuvaba tulu.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Paremal üleval on </a:t>
            </a:r>
            <a:r>
              <a:rPr b="1" sz="1400">
                <a:solidFill>
                  <a:srgbClr val="5B21B6"/>
                </a:solidFill>
              </a:rPr>
              <a:t>Lisa töötaja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Koosta kuu palgaarvestus</a:t>
            </a:r>
            <a:r>
              <a:rPr sz="1400">
                <a:solidFill>
                  <a:srgbClr val="14062B"/>
                </a:solidFill>
              </a:rPr>
              <a:t>.</a:t>
            </a:r>
          </a:p>
        </p:txBody>
      </p:sp>
      <p:pic>
        <p:nvPicPr>
          <p:cNvPr id="5" name="Picture 4" descr="14-payroll-employ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Osakoormusega töötaja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Tasu alus</a:t>
            </a:r>
            <a:r>
              <a:rPr sz="1400">
                <a:solidFill>
                  <a:srgbClr val="14062B"/>
                </a:solidFill>
              </a:rPr>
              <a:t>: </a:t>
            </a:r>
            <a:r>
              <a:rPr b="1" sz="1400">
                <a:solidFill>
                  <a:srgbClr val="5B21B6"/>
                </a:solidFill>
              </a:rPr>
              <a:t>Kuupalk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Kuupalk või juhatuse liikme tasu</a:t>
            </a:r>
            <a:r>
              <a:rPr sz="1400">
                <a:solidFill>
                  <a:srgbClr val="14062B"/>
                </a:solidFill>
              </a:rPr>
              <a:t>: lepingujärgne kuu brutotasu (700 €).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Töökoormus (FTE)</a:t>
            </a:r>
            <a:r>
              <a:rPr sz="1400">
                <a:solidFill>
                  <a:srgbClr val="14062B"/>
                </a:solidFill>
              </a:rPr>
              <a:t>: poole kohaga 0,5.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Kogumispensioni määr</a:t>
            </a:r>
            <a:r>
              <a:rPr sz="1400">
                <a:solidFill>
                  <a:srgbClr val="14062B"/>
                </a:solidFill>
              </a:rPr>
              <a:t>: 0% on lubatud kõigile, kes II sambaga ei liitunud.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Alampalga kontroll arvestab koormust: 946 € × 0,5 = 473 € alates 1. aprillist 2026 (enne seda 886 €). Märkige </a:t>
            </a:r>
            <a:r>
              <a:rPr b="1" sz="1400">
                <a:solidFill>
                  <a:srgbClr val="5B21B6"/>
                </a:solidFill>
              </a:rPr>
              <a:t>Töösuhte algus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Töösuhte lõpp</a:t>
            </a:r>
            <a:r>
              <a:rPr sz="1400">
                <a:solidFill>
                  <a:srgbClr val="14062B"/>
                </a:solidFill>
              </a:rPr>
              <a:t>, et palgaarvestus jätaks välja väljaspool töösuhet olevad kuud.</a:t>
            </a:r>
          </a:p>
        </p:txBody>
      </p:sp>
      <p:pic>
        <p:nvPicPr>
          <p:cNvPr id="5" name="Picture 4" descr="15-employee-part-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Tunnitasuga töötaja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Tasu alus</a:t>
            </a:r>
            <a:r>
              <a:rPr sz="1400">
                <a:solidFill>
                  <a:srgbClr val="14062B"/>
                </a:solidFill>
              </a:rPr>
              <a:t>: </a:t>
            </a:r>
            <a:r>
              <a:rPr b="1" sz="1400">
                <a:solidFill>
                  <a:srgbClr val="5B21B6"/>
                </a:solidFill>
              </a:rPr>
              <a:t>Tunnitasu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Tunnitasu määr</a:t>
            </a:r>
            <a:r>
              <a:rPr sz="1400">
                <a:solidFill>
                  <a:srgbClr val="14062B"/>
                </a:solidFill>
              </a:rPr>
              <a:t>: siin 8,00 €; alammäär on 5,67 €/h alates 1. aprillist 2026 (enne seda 5,31 €).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Tunnid sisestatakse iga kuu palgaarvestuses.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Kolmas tasu alus on </a:t>
            </a:r>
            <a:r>
              <a:rPr b="1" sz="1400">
                <a:solidFill>
                  <a:srgbClr val="5B21B6"/>
                </a:solidFill>
              </a:rPr>
              <a:t>Juhatuse liikme tasu</a:t>
            </a:r>
            <a:r>
              <a:rPr sz="1400">
                <a:solidFill>
                  <a:srgbClr val="14062B"/>
                </a:solidFill>
              </a:rPr>
              <a:t>: töötuskindlustusmakset ja sotsiaalmaksu miinimumkohustust ei rakendu. </a:t>
            </a:r>
            <a:r>
              <a:rPr b="1" sz="1400">
                <a:solidFill>
                  <a:srgbClr val="5B21B6"/>
                </a:solidFill>
              </a:rPr>
              <a:t>Sotsiaalmaksu miinimumkohustuse erand</a:t>
            </a:r>
            <a:r>
              <a:rPr sz="1400">
                <a:solidFill>
                  <a:srgbClr val="14062B"/>
                </a:solidFill>
              </a:rPr>
              <a:t> näitab, miks miinimumkohustus inimesele ei kehti (vt viiteid).</a:t>
            </a:r>
          </a:p>
        </p:txBody>
      </p:sp>
      <p:pic>
        <p:nvPicPr>
          <p:cNvPr id="5" name="Picture 4" descr="16-employee-hou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Palgaarvestuse kavandi ülevaatus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Oktoobri 2026 kavand näitab kliendi bruto-, neto- ja tööandja kulu (bruto 16 254,00 €, tööandja kulu 21 797,23 €). </a:t>
            </a:r>
            <a:r>
              <a:rPr b="1" sz="1400">
                <a:solidFill>
                  <a:srgbClr val="5B21B6"/>
                </a:solidFill>
              </a:rPr>
              <a:t>Arvestus töötajate kaupa</a:t>
            </a:r>
            <a:r>
              <a:rPr sz="1400">
                <a:solidFill>
                  <a:srgbClr val="14062B"/>
                </a:solidFill>
              </a:rPr>
              <a:t>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Peeter Oja</a:t>
            </a:r>
            <a:r>
              <a:rPr sz="1400">
                <a:solidFill>
                  <a:srgbClr val="14062B"/>
                </a:solidFill>
              </a:rPr>
              <a:t>: 8,00 € × 176 tundi = 1408,00 € brutot.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Liis Kuusk</a:t>
            </a:r>
            <a:r>
              <a:rPr sz="1400">
                <a:solidFill>
                  <a:srgbClr val="14062B"/>
                </a:solidFill>
              </a:rPr>
              <a:t> (0,5 kohta, 700 €): sotsiaalmaks 292,38 €, sh </a:t>
            </a:r>
            <a:r>
              <a:rPr b="1" sz="1400">
                <a:solidFill>
                  <a:srgbClr val="5B21B6"/>
                </a:solidFill>
              </a:rPr>
              <a:t>sotsiaalmaksu miinimumkohustuse lisamakse</a:t>
            </a:r>
            <a:r>
              <a:rPr sz="1400">
                <a:solidFill>
                  <a:srgbClr val="14062B"/>
                </a:solidFill>
              </a:rPr>
              <a:t> 61,38 €, mille maksab tööandja.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Tulumaks, II sammas, netopalk ja tööandja kulu iga töötaja kohta.</a:t>
            </a:r>
          </a:p>
        </p:txBody>
      </p:sp>
      <p:pic>
        <p:nvPicPr>
          <p:cNvPr id="5" name="Picture 4" descr="17-pay-run-draft-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Kuu palgaarvestuse koostamine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Klõpsake </a:t>
            </a:r>
            <a:r>
              <a:rPr b="1" sz="1400">
                <a:solidFill>
                  <a:srgbClr val="5B21B6"/>
                </a:solidFill>
              </a:rPr>
              <a:t>Koosta kuu palgaarvestus</a:t>
            </a:r>
            <a:r>
              <a:rPr sz="1400">
                <a:solidFill>
                  <a:srgbClr val="14062B"/>
                </a:solidFill>
              </a:rPr>
              <a:t> ja valige </a:t>
            </a:r>
            <a:r>
              <a:rPr b="1" sz="1400">
                <a:solidFill>
                  <a:srgbClr val="5B21B6"/>
                </a:solidFill>
              </a:rPr>
              <a:t>Kuu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Kontrollige </a:t>
            </a:r>
            <a:r>
              <a:rPr b="1" sz="1400">
                <a:solidFill>
                  <a:srgbClr val="5B21B6"/>
                </a:solidFill>
              </a:rPr>
              <a:t>arvestusse kaasatud töötajaid</a:t>
            </a:r>
            <a:r>
              <a:rPr sz="1400">
                <a:solidFill>
                  <a:srgbClr val="14062B"/>
                </a:solidFill>
              </a:rPr>
              <a:t> (aktiivsed ja sel kuul töösuhtes).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Sisestage tunnitasuga töötajate </a:t>
            </a:r>
            <a:r>
              <a:rPr b="1" sz="1400">
                <a:solidFill>
                  <a:srgbClr val="5B21B6"/>
                </a:solidFill>
              </a:rPr>
              <a:t>Töötatud tunnid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Loo kavand</a:t>
            </a:r>
            <a:r>
              <a:rPr sz="1400">
                <a:solidFill>
                  <a:srgbClr val="14062B"/>
                </a:solidFill>
              </a:rPr>
              <a:t> ja kinnitage.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Töötaja andmed külmutatakse kavandisse, nii et hilisemad muudatused seda ei muuda. Alampalga kontrolli tõrge nimetab töötaja ja summa.</a:t>
            </a:r>
          </a:p>
        </p:txBody>
      </p:sp>
      <p:pic>
        <p:nvPicPr>
          <p:cNvPr id="5" name="Picture 4" descr="18-pay-run-wiz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Kinnitamine ja kirjendamine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Kinnita ja kirjenda</a:t>
            </a:r>
            <a:r>
              <a:rPr sz="1400">
                <a:solidFill>
                  <a:srgbClr val="14062B"/>
                </a:solidFill>
              </a:rPr>
              <a:t> näitab tööandja kulu ja küsib kinnitust. Kinnitamisel: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kirjendatakse kliendi pearaamatusse üks tasakaalus palgakanne;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arvestus lukustub (muuta või kustutada saab ainult kavandit);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muutuvad kättesaadavaks </a:t>
            </a:r>
            <a:r>
              <a:rPr b="1" sz="1400">
                <a:solidFill>
                  <a:srgbClr val="5B21B6"/>
                </a:solidFill>
              </a:rPr>
              <a:t>Palgalehed PDF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Vale kavandi saab kustutada nupuga </a:t>
            </a:r>
            <a:r>
              <a:rPr b="1" sz="1400">
                <a:solidFill>
                  <a:srgbClr val="5B21B6"/>
                </a:solidFill>
              </a:rPr>
              <a:t>Kustuta kavand</a:t>
            </a:r>
            <a:r>
              <a:rPr sz="1400">
                <a:solidFill>
                  <a:srgbClr val="14062B"/>
                </a:solidFill>
              </a:rPr>
              <a:t> ja uuesti koostada.</a:t>
            </a:r>
          </a:p>
        </p:txBody>
      </p:sp>
      <p:pic>
        <p:nvPicPr>
          <p:cNvPr id="5" name="Picture 4" descr="19-pay-run-appr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Palgalehed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Palgalehed PDF</a:t>
            </a:r>
            <a:r>
              <a:rPr sz="1400">
                <a:solidFill>
                  <a:srgbClr val="14062B"/>
                </a:solidFill>
              </a:rPr>
              <a:t> koostab iga töötaja kohta ühe lehe: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brutopalk või tunnitasu × tunnid ning töökoormus;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II sammas, töötaja töötuskindlustusmakse, kasutatud maksuvaba tulu, tulumaks;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netopalk, sotsiaalmaks koos arvestusaluse ja võimaliku </a:t>
            </a:r>
            <a:r>
              <a:rPr b="1" sz="1400">
                <a:solidFill>
                  <a:srgbClr val="5B21B6"/>
                </a:solidFill>
              </a:rPr>
              <a:t>miinimumkohustuse lisamaksega</a:t>
            </a:r>
            <a:r>
              <a:rPr sz="1400">
                <a:solidFill>
                  <a:srgbClr val="14062B"/>
                </a:solidFill>
              </a:rPr>
              <a:t>, tööandja töötuskindlustusmakse ja tööandja kulu kokku.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TSD esitamine EMTA-le ei ole automatiseeritud; selle esitab raamatupidaja.</a:t>
            </a:r>
          </a:p>
        </p:txBody>
      </p:sp>
      <p:pic>
        <p:nvPicPr>
          <p:cNvPr id="5" name="Picture 4" descr="20-payslip-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3620654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Palgaarvestus pearaamatus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Iga kinnitatud arvestus kirjendatakse kliendi palgakontodele, näiteks: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6110</a:t>
            </a:r>
            <a:r>
              <a:rPr sz="1400">
                <a:solidFill>
                  <a:srgbClr val="14062B"/>
                </a:solidFill>
              </a:rPr>
              <a:t> palgakulu, </a:t>
            </a:r>
            <a:r>
              <a:rPr b="1" sz="1400">
                <a:solidFill>
                  <a:srgbClr val="5B21B6"/>
                </a:solidFill>
              </a:rPr>
              <a:t>6120</a:t>
            </a:r>
            <a:r>
              <a:rPr sz="1400">
                <a:solidFill>
                  <a:srgbClr val="14062B"/>
                </a:solidFill>
              </a:rPr>
              <a:t> sotsiaalmaksu kulu, </a:t>
            </a:r>
            <a:r>
              <a:rPr b="1" sz="1400">
                <a:solidFill>
                  <a:srgbClr val="5B21B6"/>
                </a:solidFill>
              </a:rPr>
              <a:t>6130</a:t>
            </a:r>
            <a:r>
              <a:rPr sz="1400">
                <a:solidFill>
                  <a:srgbClr val="14062B"/>
                </a:solidFill>
              </a:rPr>
              <a:t> tööandja töötuskindlustusmakse kulu;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2210</a:t>
            </a:r>
            <a:r>
              <a:rPr sz="1400">
                <a:solidFill>
                  <a:srgbClr val="14062B"/>
                </a:solidFill>
              </a:rPr>
              <a:t> palgavõlg töötajatele, </a:t>
            </a:r>
            <a:r>
              <a:rPr b="1" sz="1400">
                <a:solidFill>
                  <a:srgbClr val="5B21B6"/>
                </a:solidFill>
              </a:rPr>
              <a:t>2220</a:t>
            </a:r>
            <a:r>
              <a:rPr sz="1400">
                <a:solidFill>
                  <a:srgbClr val="14062B"/>
                </a:solidFill>
              </a:rPr>
              <a:t> kinnipeetud tulumaks, </a:t>
            </a:r>
            <a:r>
              <a:rPr b="1" sz="1400">
                <a:solidFill>
                  <a:srgbClr val="5B21B6"/>
                </a:solidFill>
              </a:rPr>
              <a:t>2230</a:t>
            </a:r>
            <a:r>
              <a:rPr sz="1400">
                <a:solidFill>
                  <a:srgbClr val="14062B"/>
                </a:solidFill>
              </a:rPr>
              <a:t> pensioni- ja töötuskindlustusmaksed, </a:t>
            </a:r>
            <a:r>
              <a:rPr b="1" sz="1400">
                <a:solidFill>
                  <a:srgbClr val="5B21B6"/>
                </a:solidFill>
              </a:rPr>
              <a:t>2240</a:t>
            </a:r>
            <a:r>
              <a:rPr sz="1400">
                <a:solidFill>
                  <a:srgbClr val="14062B"/>
                </a:solidFill>
              </a:rPr>
              <a:t> sotsiaalmaksu võlg.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Miinimumkohustuse lisamakse on eraldi rida oma kirjeldusega, nii et seda on kliendile lihtne selgitada. Kanded on dateeritud perioodi lõpuga.</a:t>
            </a:r>
          </a:p>
        </p:txBody>
      </p:sp>
      <p:pic>
        <p:nvPicPr>
          <p:cNvPr id="5" name="Picture 4" descr="21-payroll-general-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Sotsiaalmaksu miinimumkohustus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Allikad: sotsiaalmaksuseadus § 2 lg 2–4; rahandusministri määrus nr 17; EMTA „Sotsiaalmaks“. Valige töötaja juures sobiv </a:t>
            </a:r>
            <a:r>
              <a:rPr b="1" sz="1400">
                <a:solidFill>
                  <a:srgbClr val="5B21B6"/>
                </a:solidFill>
              </a:rPr>
              <a:t>sotsiaalmaksu miinimumkohustuse erand</a:t>
            </a:r>
            <a:r>
              <a:rPr sz="1400">
                <a:solidFill>
                  <a:srgbClr val="14062B"/>
                </a:solidFill>
              </a:rPr>
              <a:t>; see trükitakse palgalehele.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92808"/>
          <a:ext cx="11185855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7437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Reegel</a:t>
                      </a:r>
                    </a:p>
                  </a:txBody>
                  <a:tcPr marL="54864" marR="54864" marT="9144" marB="9144" anchor="ctr"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2026</a:t>
                      </a:r>
                    </a:p>
                  </a:txBody>
                  <a:tcPr marL="54864" marR="54864" marT="9144" marB="9144" anchor="ctr">
                    <a:solidFill>
                      <a:srgbClr val="5B21B6"/>
                    </a:solidFill>
                  </a:tcPr>
                </a:tc>
              </a:tr>
              <a:tr h="7437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Kuu minimaalne arvestusalus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886 € → minimaalne sotsiaalmaks 292,38 € töötaja kohta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7437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Kes maksab puudujäägi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Tööandja, täiendava tööandja kuluna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</a:tr>
              <a:tr h="7437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Kuu keskel algav või lõppev töösuhe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Alus arvestatakse töösuhte kalendripäevade järgi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7437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Juhatuse liikme tasu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Miinimumkohustus ei kehti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</a:tr>
              <a:tr h="7437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Töötaja juures märgitav erand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Pensionär, osaline või puuduv töövõime, lapse kasvatamine, õpilane, varem töötu, lühendatud tööaeg, volikogu liige, laevapere liige, välisteenistuja abikaasa, pikaajaline haigusleht, terve kuu eemal, maksuvaba tulu arvestab teine tööandja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943600"/>
          </a:xfrm>
          <a:prstGeom prst="rect">
            <a:avLst/>
          </a:prstGeom>
          <a:solidFill>
            <a:srgbClr val="140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943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143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DE9FE"/>
                </a:solidFill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1800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Liidestused ja töötajate import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EDE9FE"/>
                </a:solidFill>
              </a:rPr>
              <a:t>Ühendage iga kliendi personalitarkvara üks kord ja vaadake iga imporditud töötaja üle enne, kui palgaandmed muutuvad.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Liidestused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Liidestused</a:t>
            </a:r>
            <a:r>
              <a:rPr sz="1400">
                <a:solidFill>
                  <a:srgbClr val="14062B"/>
                </a:solidFill>
              </a:rPr>
              <a:t> (menüüs </a:t>
            </a:r>
            <a:r>
              <a:rPr b="1" sz="1400">
                <a:solidFill>
                  <a:srgbClr val="5B21B6"/>
                </a:solidFill>
              </a:rPr>
              <a:t>Seaded</a:t>
            </a:r>
            <a:r>
              <a:rPr sz="1400">
                <a:solidFill>
                  <a:srgbClr val="14062B"/>
                </a:solidFill>
              </a:rPr>
              <a:t>) näitab esmalt kasutusvalmis liidestusi: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Registri olek</a:t>
            </a:r>
            <a:r>
              <a:rPr sz="1400">
                <a:solidFill>
                  <a:srgbClr val="14062B"/>
                </a:solidFill>
              </a:rPr>
              <a:t> — mida liidestus täna toetab;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Ühenduse olek</a:t>
            </a:r>
            <a:r>
              <a:rPr sz="1400">
                <a:solidFill>
                  <a:srgbClr val="14062B"/>
                </a:solidFill>
              </a:rPr>
              <a:t> — selle kliendi ühendus.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Töötajate failiimport</a:t>
            </a:r>
            <a:r>
              <a:rPr sz="1400">
                <a:solidFill>
                  <a:srgbClr val="14062B"/>
                </a:solidFill>
              </a:rPr>
              <a:t> ei vaja ühendust; </a:t>
            </a:r>
            <a:r>
              <a:rPr b="1" sz="1400">
                <a:solidFill>
                  <a:srgbClr val="5B21B6"/>
                </a:solidFill>
              </a:rPr>
              <a:t>FastHR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QuickBooks Online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b="1" sz="1400">
                <a:solidFill>
                  <a:srgbClr val="5B21B6"/>
                </a:solidFill>
              </a:rPr>
              <a:t>Xero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Merit Aktiva</a:t>
            </a:r>
            <a:r>
              <a:rPr sz="1400">
                <a:solidFill>
                  <a:srgbClr val="14062B"/>
                </a:solidFill>
              </a:rPr>
              <a:t> on ühendamiseks valmis. Kavandatud liidestused on all; </a:t>
            </a:r>
            <a:r>
              <a:rPr b="1" sz="1400">
                <a:solidFill>
                  <a:srgbClr val="5B21B6"/>
                </a:solidFill>
              </a:rPr>
              <a:t>Avalik liidestuste kataloog</a:t>
            </a:r>
            <a:r>
              <a:rPr sz="1400">
                <a:solidFill>
                  <a:srgbClr val="14062B"/>
                </a:solidFill>
              </a:rPr>
              <a:t> avab täieliku nimekirja avalikul veebilehel.</a:t>
            </a:r>
          </a:p>
        </p:txBody>
      </p:sp>
      <p:pic>
        <p:nvPicPr>
          <p:cNvPr id="5" name="Picture 4" descr="22-integ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FastHR-i ühendamine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Klõpsake FastHR-i kaardil </a:t>
            </a:r>
            <a:r>
              <a:rPr b="1" sz="1400">
                <a:solidFill>
                  <a:srgbClr val="5B21B6"/>
                </a:solidFill>
              </a:rPr>
              <a:t>Seadista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Sisestage </a:t>
            </a:r>
            <a:r>
              <a:rPr b="1" sz="1400">
                <a:solidFill>
                  <a:srgbClr val="5B21B6"/>
                </a:solidFill>
              </a:rPr>
              <a:t>Baas-URL</a:t>
            </a:r>
            <a:r>
              <a:rPr sz="1400">
                <a:solidFill>
                  <a:srgbClr val="14062B"/>
                </a:solidFill>
              </a:rPr>
              <a:t> ja kliendi </a:t>
            </a:r>
            <a:r>
              <a:rPr b="1" sz="1400">
                <a:solidFill>
                  <a:srgbClr val="5B21B6"/>
                </a:solidFill>
              </a:rPr>
              <a:t>API-tõend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Salvesta seadistus</a:t>
            </a:r>
            <a:r>
              <a:rPr sz="1400">
                <a:solidFill>
                  <a:srgbClr val="14062B"/>
                </a:solidFill>
              </a:rPr>
              <a:t> ja seejärel </a:t>
            </a:r>
            <a:r>
              <a:rPr b="1" sz="1400">
                <a:solidFill>
                  <a:srgbClr val="5B21B6"/>
                </a:solidFill>
              </a:rPr>
              <a:t>Testi ühendust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Saladused krüpteeritakse kliendi kaupa ja neid ei näidata enam kunagi; tõendi vahetamiseks sisestage uus. </a:t>
            </a:r>
            <a:r>
              <a:rPr b="1" sz="1400">
                <a:solidFill>
                  <a:srgbClr val="5B21B6"/>
                </a:solidFill>
              </a:rPr>
              <a:t>Katkesta ühendus</a:t>
            </a:r>
            <a:r>
              <a:rPr sz="1400">
                <a:solidFill>
                  <a:srgbClr val="14062B"/>
                </a:solidFill>
              </a:rPr>
              <a:t> eemaldab ühenduse; FastHR-i ainult loetakse, sinna ei kirjutata midagi tagasi.</a:t>
            </a:r>
          </a:p>
        </p:txBody>
      </p:sp>
      <p:pic>
        <p:nvPicPr>
          <p:cNvPr id="5" name="Picture 4" descr="23-fasthr-con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Töötajate impordi käivitamine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Käivita töötajate import</a:t>
            </a:r>
            <a:r>
              <a:rPr sz="1400">
                <a:solidFill>
                  <a:srgbClr val="14062B"/>
                </a:solidFill>
              </a:rPr>
              <a:t> lisab FastHR-i töötajad ülevaatusele; midagi ei muutu veel.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Vastendatud töötaja</a:t>
            </a:r>
            <a:r>
              <a:rPr sz="1400">
                <a:solidFill>
                  <a:srgbClr val="14062B"/>
                </a:solidFill>
              </a:rPr>
              <a:t> seob kirje olemasoleva töötajaga e-posti või isikukoodi järgi.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FastHR-i aasta põhitöötasu muutub kuupalgaks (÷ 12), tööaja osakaal töökoormuseks (FTE) ja tunnitasuga töötajad saavad tunnitasu.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Ülevaatuse märkus</a:t>
            </a:r>
            <a:r>
              <a:rPr sz="1400">
                <a:solidFill>
                  <a:srgbClr val="14062B"/>
                </a:solidFill>
              </a:rPr>
              <a:t> hoiatab, kui FastHR-is puudub töötasu ja tunnitasu.</a:t>
            </a:r>
          </a:p>
        </p:txBody>
      </p:sp>
      <p:pic>
        <p:nvPicPr>
          <p:cNvPr id="5" name="Picture 4" descr="24-fasthr-import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Otsuste rakendamine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Märkige iga kirje juures </a:t>
            </a:r>
            <a:r>
              <a:rPr b="1" sz="1400">
                <a:solidFill>
                  <a:srgbClr val="5B21B6"/>
                </a:solidFill>
              </a:rPr>
              <a:t>Kinnita</a:t>
            </a:r>
            <a:r>
              <a:rPr sz="1400">
                <a:solidFill>
                  <a:srgbClr val="14062B"/>
                </a:solidFill>
              </a:rPr>
              <a:t> või </a:t>
            </a:r>
            <a:r>
              <a:rPr b="1" sz="1400">
                <a:solidFill>
                  <a:srgbClr val="5B21B6"/>
                </a:solidFill>
              </a:rPr>
              <a:t>Lükka tagasi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Rakenda otsused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5B21B6"/>
                </a:solidFill>
              </a:rPr>
              <a:t>Impordi tulemused</a:t>
            </a:r>
            <a:r>
              <a:rPr sz="1400">
                <a:solidFill>
                  <a:srgbClr val="14062B"/>
                </a:solidFill>
              </a:rPr>
              <a:t> loendab rakendatud, uuendatud, muutmata, tagasi lükatud ja ebaõnnestunud kirjed ning näitab põhjuseid. Töötasuta kirje jäetakse vahele, mitte ei arvata; parandage see FastHR-is ja valige </a:t>
            </a:r>
            <a:r>
              <a:rPr b="1" sz="1400">
                <a:solidFill>
                  <a:srgbClr val="5B21B6"/>
                </a:solidFill>
              </a:rPr>
              <a:t>Proovi rakendamist uuesti</a:t>
            </a:r>
            <a:r>
              <a:rPr sz="1400">
                <a:solidFill>
                  <a:srgbClr val="14062B"/>
                </a:solidFill>
              </a:rPr>
              <a:t>. </a:t>
            </a:r>
            <a:r>
              <a:rPr b="1" sz="1400">
                <a:solidFill>
                  <a:srgbClr val="5B21B6"/>
                </a:solidFill>
              </a:rPr>
              <a:t>Hiljutised impordid</a:t>
            </a:r>
            <a:r>
              <a:rPr sz="1400">
                <a:solidFill>
                  <a:srgbClr val="14062B"/>
                </a:solidFill>
              </a:rPr>
              <a:t> säilitab ajaloo.</a:t>
            </a:r>
          </a:p>
        </p:txBody>
      </p:sp>
      <p:pic>
        <p:nvPicPr>
          <p:cNvPr id="5" name="Picture 4" descr="25-fasthr-import-appl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Töötajate faili importimine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Kui kliendi palga- või personalisüsteemil liidestust pole, kasutage faili eksporti.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Klõpsake kaardil </a:t>
            </a:r>
            <a:r>
              <a:rPr b="1" sz="1400">
                <a:solidFill>
                  <a:srgbClr val="5B21B6"/>
                </a:solidFill>
              </a:rPr>
              <a:t>Töötajate failiimport</a:t>
            </a:r>
            <a:r>
              <a:rPr sz="1400">
                <a:solidFill>
                  <a:srgbClr val="14062B"/>
                </a:solidFill>
              </a:rPr>
              <a:t> nuppu </a:t>
            </a:r>
            <a:r>
              <a:rPr b="1" sz="1400">
                <a:solidFill>
                  <a:srgbClr val="5B21B6"/>
                </a:solidFill>
              </a:rPr>
              <a:t>Impordi fail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Valige </a:t>
            </a:r>
            <a:r>
              <a:rPr b="1" sz="1400">
                <a:solidFill>
                  <a:srgbClr val="5B21B6"/>
                </a:solidFill>
              </a:rPr>
              <a:t>CSV- või TSV-fail</a:t>
            </a:r>
            <a:r>
              <a:rPr sz="1400">
                <a:solidFill>
                  <a:srgbClr val="14062B"/>
                </a:solidFill>
              </a:rPr>
              <a:t> või kleepige selle sisu.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Lisa töötajad ülevaatusse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Tuntud veerupealkirjad on näiteks </a:t>
            </a:r>
            <a:r>
              <a:rPr i="1" sz="1400">
                <a:solidFill>
                  <a:srgbClr val="14062B"/>
                </a:solidFill>
              </a:rPr>
              <a:t>Töötaja ID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i="1" sz="1400">
                <a:solidFill>
                  <a:srgbClr val="14062B"/>
                </a:solidFill>
              </a:rPr>
              <a:t>Nimi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i="1" sz="1400">
                <a:solidFill>
                  <a:srgbClr val="14062B"/>
                </a:solidFill>
              </a:rPr>
              <a:t>E-post</a:t>
            </a:r>
            <a:r>
              <a:rPr sz="1400">
                <a:solidFill>
                  <a:srgbClr val="14062B"/>
                </a:solidFill>
              </a:rPr>
              <a:t>, </a:t>
            </a:r>
            <a:r>
              <a:rPr i="1" sz="1400">
                <a:solidFill>
                  <a:srgbClr val="14062B"/>
                </a:solidFill>
              </a:rPr>
              <a:t>Palk</a:t>
            </a:r>
            <a:r>
              <a:rPr sz="1400">
                <a:solidFill>
                  <a:srgbClr val="14062B"/>
                </a:solidFill>
              </a:rPr>
              <a:t> (kuupalk), </a:t>
            </a:r>
            <a:r>
              <a:rPr i="1" sz="1400">
                <a:solidFill>
                  <a:srgbClr val="14062B"/>
                </a:solidFill>
              </a:rPr>
              <a:t>Isikukood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i="1" sz="1400">
                <a:solidFill>
                  <a:srgbClr val="14062B"/>
                </a:solidFill>
              </a:rPr>
              <a:t>Staatus</a:t>
            </a:r>
            <a:r>
              <a:rPr sz="1400">
                <a:solidFill>
                  <a:srgbClr val="14062B"/>
                </a:solidFill>
              </a:rPr>
              <a:t>, samuti ingliskeelsed vasted. Exceli töövihik eksportige enne CSV-vormingusse. Algfaili ei salvestata.</a:t>
            </a:r>
          </a:p>
        </p:txBody>
      </p:sp>
      <p:pic>
        <p:nvPicPr>
          <p:cNvPr id="5" name="Picture 4" descr="26-file-import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Failiimpordi ülevaatus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Failiimport kasutab sama ülevaatust nagu FastHR: iga rida lisatakse olekuga </a:t>
            </a:r>
            <a:r>
              <a:rPr b="1" sz="1400">
                <a:solidFill>
                  <a:srgbClr val="5B21B6"/>
                </a:solidFill>
              </a:rPr>
              <a:t>Ootel</a:t>
            </a:r>
            <a:r>
              <a:rPr sz="1400">
                <a:solidFill>
                  <a:srgbClr val="14062B"/>
                </a:solidFill>
              </a:rPr>
              <a:t>, vastendatakse olemasolevate töötajatega e-posti või isikukoodi järgi ja midagi ei muutu enne, kui valite </a:t>
            </a:r>
            <a:r>
              <a:rPr b="1" sz="1400">
                <a:solidFill>
                  <a:srgbClr val="5B21B6"/>
                </a:solidFill>
              </a:rPr>
              <a:t>Kinnita</a:t>
            </a:r>
            <a:r>
              <a:rPr sz="1400">
                <a:solidFill>
                  <a:srgbClr val="14062B"/>
                </a:solidFill>
              </a:rPr>
              <a:t> ja </a:t>
            </a:r>
            <a:r>
              <a:rPr b="1" sz="1400">
                <a:solidFill>
                  <a:srgbClr val="5B21B6"/>
                </a:solidFill>
              </a:rPr>
              <a:t>Rakenda otsused</a:t>
            </a:r>
            <a:r>
              <a:rPr sz="1400">
                <a:solidFill>
                  <a:srgbClr val="14062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Sama faili uuesti importimine on ohutu: muutmata read märgitakse olekuga </a:t>
            </a:r>
            <a:r>
              <a:rPr b="1" sz="1400">
                <a:solidFill>
                  <a:srgbClr val="5B21B6"/>
                </a:solidFill>
              </a:rPr>
              <a:t>Muutmata</a:t>
            </a:r>
            <a:r>
              <a:rPr sz="1400">
                <a:solidFill>
                  <a:srgbClr val="14062B"/>
                </a:solidFill>
              </a:rPr>
              <a:t> ja duplikaate ei teki. </a:t>
            </a:r>
            <a:r>
              <a:rPr b="1" sz="1400">
                <a:solidFill>
                  <a:srgbClr val="5B21B6"/>
                </a:solidFill>
              </a:rPr>
              <a:t>Hiljutised impordid</a:t>
            </a:r>
            <a:r>
              <a:rPr sz="1400">
                <a:solidFill>
                  <a:srgbClr val="14062B"/>
                </a:solidFill>
              </a:rPr>
              <a:t> näitab selle kliendi varasemaid failiimporte.</a:t>
            </a:r>
          </a:p>
        </p:txBody>
      </p:sp>
      <p:pic>
        <p:nvPicPr>
          <p:cNvPr id="5" name="Picture 4" descr="27-file-import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Imporditud töötajad palgaarvestuses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Kinnitatud kirjed on </a:t>
            </a:r>
            <a:r>
              <a:rPr b="1" sz="1400">
                <a:solidFill>
                  <a:srgbClr val="5B21B6"/>
                </a:solidFill>
              </a:rPr>
              <a:t>Palgaarvestuses</a:t>
            </a:r>
            <a:r>
              <a:rPr sz="1400">
                <a:solidFill>
                  <a:srgbClr val="14062B"/>
                </a:solidFill>
              </a:rPr>
              <a:t> nagu teised töötajad: siin </a:t>
            </a:r>
            <a:r>
              <a:rPr b="1" sz="1400">
                <a:solidFill>
                  <a:srgbClr val="5B21B6"/>
                </a:solidFill>
              </a:rPr>
              <a:t>Eva Näidis</a:t>
            </a:r>
            <a:r>
              <a:rPr sz="1400">
                <a:solidFill>
                  <a:srgbClr val="14062B"/>
                </a:solidFill>
              </a:rPr>
              <a:t> (osakoormus 0,6, kuupalk 1200,00 € aastatasust 14 400 €) ja </a:t>
            </a:r>
            <a:r>
              <a:rPr b="1" sz="1400">
                <a:solidFill>
                  <a:srgbClr val="5B21B6"/>
                </a:solidFill>
              </a:rPr>
              <a:t>Rein Proov</a:t>
            </a:r>
            <a:r>
              <a:rPr sz="1400">
                <a:solidFill>
                  <a:srgbClr val="14062B"/>
                </a:solidFill>
              </a:rPr>
              <a:t> (tunnitasu 7,50 €).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Enne järgmist palgaarvestust täiendage, mida FastHR ei hoia: II samba määr, maksuvaba tulu avaldus ja võimalik sotsiaalmaksu miinimumkohustuse erand.</a:t>
            </a:r>
          </a:p>
        </p:txBody>
      </p:sp>
      <p:pic>
        <p:nvPicPr>
          <p:cNvPr id="5" name="Picture 4" descr="28-payroll-after-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943600"/>
          </a:xfrm>
          <a:prstGeom prst="rect">
            <a:avLst/>
          </a:prstGeom>
          <a:solidFill>
            <a:srgbClr val="140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943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143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DE9FE"/>
                </a:solidFill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1800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Viited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EDE9FE"/>
                </a:solidFill>
              </a:rPr>
              <a:t>Eesti 2026. aasta palgaarvestuse määrad, mida FastAccounts ei tee ja kust abi leida.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Eesti palgaarvestuse määrad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Allikad: EMTA „Maksumäärad“; Vabariigi Valitsuse 23.03.2026 määrus nr 36. Summad arvutatakse täpsete kümnendarvudega ja ümardatakse sentideni (pooled üles).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92808"/>
          <a:ext cx="11185855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5577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Kirje</a:t>
                      </a:r>
                    </a:p>
                  </a:txBody>
                  <a:tcPr marL="54864" marR="54864" marT="9144" marB="9144" anchor="ctr"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Määr või summa</a:t>
                      </a:r>
                    </a:p>
                  </a:txBody>
                  <a:tcPr marL="54864" marR="54864" marT="9144" marB="9144" anchor="ctr">
                    <a:solidFill>
                      <a:srgbClr val="5B21B6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Tulumaks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22%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Maksuvaba tulu (kirjaliku avalduse alusel)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700 € kuus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Sotsiaalmaks (tööandja)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33%, minimaalne arvestusalus 886 € kuus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Töötuskindlustusmakse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töötaja 1,6%, tööandja 0,8%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Kogumispension (II sammas)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0%, 2%, 4% või 6%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Alampalk kuni 31.03.2026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886 € kuus, 5,31 € tunnis</a:t>
                      </a:r>
                    </a:p>
                  </a:txBody>
                  <a:tcPr marL="54864" marR="54864" marT="9144" marB="9144" anchor="ctr">
                    <a:solidFill>
                      <a:srgbClr val="F3E8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Alampalk alates 01.04.2026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062B"/>
                          </a:solidFill>
                        </a:rPr>
                        <a:t>946 € kuus, 5,67 € tunnis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185855" cy="53035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64008"/>
          <a:lstStyle/>
          <a:p>
            <a:pPr algn="ctr"/>
            <a:r>
              <a:rPr sz="2100" b="1">
                <a:solidFill>
                  <a:srgbClr val="FFFFFF"/>
                </a:solidFill>
              </a:rPr>
              <a:t>Piirangud ja järgmised sammud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Deklaratsioonid</a:t>
            </a:r>
            <a:r>
              <a:rPr sz="1400">
                <a:solidFill>
                  <a:srgbClr val="14062B"/>
                </a:solidFill>
              </a:rPr>
              <a:t>: KMD ja VD töölehed koostatakse raamatupidaja ülevaatuseks ja eksporditakse; EMTA-le ega HMRC-le ei esitata midagi automaatselt.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E-kirjad</a:t>
            </a:r>
            <a:r>
              <a:rPr sz="1400">
                <a:solidFill>
                  <a:srgbClr val="14062B"/>
                </a:solidFill>
              </a:rPr>
              <a:t>: meeldetuletused ja automaatselt saadetavad arved vajavad Postmarki seadistust.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Palgaarvestus</a:t>
            </a:r>
            <a:r>
              <a:rPr sz="1400">
                <a:solidFill>
                  <a:srgbClr val="14062B"/>
                </a:solidFill>
              </a:rPr>
              <a:t>: ainult eurodes peetava raamatupidamisega Eesti ettevõtted ja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aasta perioodid. Puhkused, haigused, hüvitised, mitteresidendid, TSD esitamine ja palga väljamaksmine jäävad arvestusest välja; raamatupidaja vastuvõtutestimine on pooleli (</a:t>
            </a:r>
            <a:r>
              <a:rPr sz="1400">
                <a:solidFill>
                  <a:srgbClr val="5B21B6"/>
                </a:solidFill>
                <a:latin typeface="Consolas"/>
              </a:rPr>
              <a:t>docs/payroll_rules.md</a:t>
            </a:r>
            <a:r>
              <a:rPr sz="1400">
                <a:solidFill>
                  <a:srgbClr val="14062B"/>
                </a:solidFill>
              </a:rPr>
              <a:t>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• </a:t>
            </a:r>
            <a:r>
              <a:rPr b="1" sz="1400">
                <a:solidFill>
                  <a:srgbClr val="5B21B6"/>
                </a:solidFill>
              </a:rPr>
              <a:t>Import</a:t>
            </a:r>
            <a:r>
              <a:rPr sz="1400">
                <a:solidFill>
                  <a:srgbClr val="14062B"/>
                </a:solidFill>
              </a:rPr>
              <a:t>: FastHR-ist imporditakse töötajate põhiandmed, mitte tunde ega puhkusi.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062B"/>
                </a:solidFill>
              </a:rPr>
              <a:t>Muudatuste logi on failis </a:t>
            </a:r>
            <a:r>
              <a:rPr sz="1400">
                <a:solidFill>
                  <a:srgbClr val="5B21B6"/>
                </a:solidFill>
                <a:latin typeface="Consolas"/>
              </a:rPr>
              <a:t>docs/change_log.md</a:t>
            </a:r>
            <a:r>
              <a:rPr sz="1400">
                <a:solidFill>
                  <a:srgbClr val="14062B"/>
                </a:solidFill>
              </a:rPr>
              <a:t>; juhendi uuesti koostamise kirjeldus on failis </a:t>
            </a:r>
            <a:r>
              <a:rPr sz="1400">
                <a:solidFill>
                  <a:srgbClr val="5B21B6"/>
                </a:solidFill>
                <a:latin typeface="Consolas"/>
              </a:rPr>
              <a:t>docs/USER_GUIDE_BUILD.md</a:t>
            </a:r>
            <a:r>
              <a:rPr sz="1400">
                <a:solidFill>
                  <a:srgbClr val="14062B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FastAccounts · kasutusjuhend · v0.4.0 · 2026-10-09 · fastaccounts.org ·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